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15 секунд. Представляем finly, финансового помощника для студента. Главный вопрос продукта: сколько можно потратить сегодня, чтобы денег хватило до следующего поступления. Команда «Рыбы дипсика».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Проблема проекта: распределить имеющиеся деньги до следующего поступления при смешанном доходе. Описываем продуктовую гипотезу, а не результаты проведённых интервью. Источник: предоставленный командой Word-документ.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20 секунд. Наш стартовый сегмент — студенты со стипендией и подработкой. Проверка востребованности и готовности платить — следующий этап. Оценка 2–2,5 млн из исходных материалов не используется как доказанный размер рынка.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Начать можно с импорта выписки. CSV разбирает локальный сервер. Для PDF пользователь проверяет очищенный текст и разрешает обработку моделью. До подтверждения строки не попадают в историю операций.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25 секунд. Это арифметический пример, а не измеренный результат пользователей. Из остатка вычитаем платежи и резерв, делим на дни. Холды тоже уменьшают доступный бюджет. Пользовательский лимит может ограничить результат. Расчёты в backend/budget.py.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Павел, 20 секунд. Эти возможности реализованы в локальном MVP. Интерфейс на Next.js и React, backend на FastAPI, база приложения SQLite. Источники: backend/app.py, frontend/finly/App.tsx.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25 секунд. Ключевой сценарий — реакция бюджета на конкретную покупку. SSE доставляет событие в браузер, затем интерфейс запрашивает свежий снимок. Модель выбирает разделы объяснения, а суммы подставляет сервер. Это фокус продукта, без заявления об отсутствии аналогов.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30 секунд. POST /auth/login получает токен. GET /accounts возвращает счета. По каждому счёту запрашиваются /transactions и /balances. Повторная синхронизация не дублирует историю. Банк опрашиваем по HTTP, браузеру отправляем SSE. Покупки лаборатории создаются в отдельном симуляторе, а не в банке. Источник: backend/bank_in_a_box.py, backend/app.py.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Павел, 90 секунд на живую демонстрацию. Открыть обзор и лабораторию в двух вкладках с источником «Учебный банк + симулятор». Запомнить остаток, создать проведённый расход 12 000 ₽, показать изменение бюджета без перезагрузки. Уведомления зависят от настроек и порогов. При сбое показать этот скриншот и CSV-импорт. Скриншот: локальный finly, синтетический профиль, 27 сентября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У существующих приложений уже есть планирование. Мы проверяем более узкий сценарий студентов со смешанным доходом. Не заявляем отсутствие аналогов. Источники возможностей: https://support.zenmoney.ru/knowledge-bases/2-baza-znanij/categories/55-planirovanie-byudzheta/articles ; https://about.coinkeeper.me/24674569 . Проверено 27 сентября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Ближайший шаг — пилот со студентами. Смотрим на понятность бюджета и повторное использование, затем проверяем готовность платить. Банковские и вузовские партнёрства — гипотеза развития, а не заключённые соглашения.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A1CEAC-814B-AF91-570B-D6766736A7AB}"/>
              </a:ext>
            </a:extLst>
          </p:cNvPr>
          <p:cNvSpPr>
            <a:spLocks noGrp="1"/>
          </p:cNvSpPr>
          <p:nvPr/>
        </p:nvSpPr>
        <p:spPr>
          <a:xfrm>
            <a:off x="102108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8E8D76-80CE-C3B5-1EFA-6CD447A904D0}"/>
              </a:ext>
            </a:extLst>
          </p:cNvPr>
          <p:cNvSpPr>
            <a:spLocks noGrp="1"/>
          </p:cNvSpPr>
          <p:nvPr/>
        </p:nvSpPr>
        <p:spPr>
          <a:xfrm>
            <a:off x="102997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245EAC-1941-3FE8-01CE-EEF603530E59}"/>
              </a:ext>
            </a:extLst>
          </p:cNvPr>
          <p:cNvSpPr>
            <a:spLocks noGrp="1"/>
          </p:cNvSpPr>
          <p:nvPr/>
        </p:nvSpPr>
        <p:spPr>
          <a:xfrm>
            <a:off x="103886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189630-6144-42B0-36A7-1C181D098375}"/>
              </a:ext>
            </a:extLst>
          </p:cNvPr>
          <p:cNvSpPr>
            <a:spLocks noGrp="1"/>
          </p:cNvSpPr>
          <p:nvPr/>
        </p:nvSpPr>
        <p:spPr>
          <a:xfrm>
            <a:off x="107442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D51848-8B4A-B5CA-F151-8F1116855262}"/>
              </a:ext>
            </a:extLst>
          </p:cNvPr>
          <p:cNvSpPr>
            <a:spLocks noGrp="1"/>
          </p:cNvSpPr>
          <p:nvPr/>
        </p:nvSpPr>
        <p:spPr>
          <a:xfrm>
            <a:off x="108331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1E5F4B-1594-8BA9-2D71-5DFCDC779254}"/>
              </a:ext>
            </a:extLst>
          </p:cNvPr>
          <p:cNvSpPr>
            <a:spLocks noGrp="1"/>
          </p:cNvSpPr>
          <p:nvPr/>
        </p:nvSpPr>
        <p:spPr>
          <a:xfrm>
            <a:off x="109220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7ABEF9-5953-E769-13F2-FF8A50CFD467}"/>
              </a:ext>
            </a:extLst>
          </p:cNvPr>
          <p:cNvSpPr>
            <a:spLocks noGrp="1"/>
          </p:cNvSpPr>
          <p:nvPr/>
        </p:nvSpPr>
        <p:spPr>
          <a:xfrm>
            <a:off x="101219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1D3610A-31F2-1B47-FA1A-77F0A6E70DD5}"/>
              </a:ext>
            </a:extLst>
          </p:cNvPr>
          <p:cNvSpPr>
            <a:spLocks noGrp="1"/>
          </p:cNvSpPr>
          <p:nvPr/>
        </p:nvSpPr>
        <p:spPr>
          <a:xfrm>
            <a:off x="104775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5216EC-6B81-6A80-90E1-27667758B0A6}"/>
              </a:ext>
            </a:extLst>
          </p:cNvPr>
          <p:cNvSpPr>
            <a:spLocks noGrp="1"/>
          </p:cNvSpPr>
          <p:nvPr/>
        </p:nvSpPr>
        <p:spPr>
          <a:xfrm>
            <a:off x="106553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3D8D8D-2945-51A5-2238-627FEB5FAD56}"/>
              </a:ext>
            </a:extLst>
          </p:cNvPr>
          <p:cNvSpPr>
            <a:spLocks noGrp="1"/>
          </p:cNvSpPr>
          <p:nvPr/>
        </p:nvSpPr>
        <p:spPr>
          <a:xfrm>
            <a:off x="110109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2430AD-E22B-DBDA-1796-B8C685A46A1F}"/>
              </a:ext>
            </a:extLst>
          </p:cNvPr>
          <p:cNvSpPr>
            <a:spLocks noGrp="1"/>
          </p:cNvSpPr>
          <p:nvPr/>
        </p:nvSpPr>
        <p:spPr>
          <a:xfrm>
            <a:off x="100330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5CCEE16-614A-B946-A381-0F431296166B}"/>
              </a:ext>
            </a:extLst>
          </p:cNvPr>
          <p:cNvSpPr>
            <a:spLocks noGrp="1"/>
          </p:cNvSpPr>
          <p:nvPr/>
        </p:nvSpPr>
        <p:spPr>
          <a:xfrm>
            <a:off x="105664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AEABE84-F213-036B-9222-E3AFE7C3C1DA}"/>
              </a:ext>
            </a:extLst>
          </p:cNvPr>
          <p:cNvSpPr>
            <a:spLocks noGrp="1"/>
          </p:cNvSpPr>
          <p:nvPr/>
        </p:nvSpPr>
        <p:spPr>
          <a:xfrm>
            <a:off x="110998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C178A37-7D81-B3EF-5F22-32422BBFA4D6}"/>
              </a:ext>
            </a:extLst>
          </p:cNvPr>
          <p:cNvSpPr>
            <a:spLocks noGrp="1"/>
          </p:cNvSpPr>
          <p:nvPr/>
        </p:nvSpPr>
        <p:spPr>
          <a:xfrm>
            <a:off x="10033000" y="21717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5776D77-A9A4-12C6-265B-2BE2BC402BD9}"/>
              </a:ext>
            </a:extLst>
          </p:cNvPr>
          <p:cNvSpPr>
            <a:spLocks noGrp="1"/>
          </p:cNvSpPr>
          <p:nvPr/>
        </p:nvSpPr>
        <p:spPr>
          <a:xfrm>
            <a:off x="11099800" y="21717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AD5CC5-4D2A-2B92-CF1D-C952643367BC}"/>
              </a:ext>
            </a:extLst>
          </p:cNvPr>
          <p:cNvSpPr>
            <a:spLocks noGrp="1"/>
          </p:cNvSpPr>
          <p:nvPr/>
        </p:nvSpPr>
        <p:spPr>
          <a:xfrm>
            <a:off x="10033000" y="22606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C586510-8E90-5384-640D-AA17F0AF32F5}"/>
              </a:ext>
            </a:extLst>
          </p:cNvPr>
          <p:cNvSpPr>
            <a:spLocks noGrp="1"/>
          </p:cNvSpPr>
          <p:nvPr/>
        </p:nvSpPr>
        <p:spPr>
          <a:xfrm>
            <a:off x="11099800" y="22606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BD3A775-A60D-3972-6324-973BF975DC07}"/>
              </a:ext>
            </a:extLst>
          </p:cNvPr>
          <p:cNvSpPr>
            <a:spLocks noGrp="1"/>
          </p:cNvSpPr>
          <p:nvPr/>
        </p:nvSpPr>
        <p:spPr>
          <a:xfrm>
            <a:off x="10121900" y="23495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A4F7047-8026-440B-AE25-068CDC3DD338}"/>
              </a:ext>
            </a:extLst>
          </p:cNvPr>
          <p:cNvSpPr>
            <a:spLocks noGrp="1"/>
          </p:cNvSpPr>
          <p:nvPr/>
        </p:nvSpPr>
        <p:spPr>
          <a:xfrm>
            <a:off x="11010900" y="23495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8627609-2196-C575-F0E6-950DF9B3F6DD}"/>
              </a:ext>
            </a:extLst>
          </p:cNvPr>
          <p:cNvSpPr>
            <a:spLocks noGrp="1"/>
          </p:cNvSpPr>
          <p:nvPr/>
        </p:nvSpPr>
        <p:spPr>
          <a:xfrm>
            <a:off x="10210800" y="24384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13F1720-BEB7-0D69-8F1A-2343373AEB02}"/>
              </a:ext>
            </a:extLst>
          </p:cNvPr>
          <p:cNvSpPr>
            <a:spLocks noGrp="1"/>
          </p:cNvSpPr>
          <p:nvPr/>
        </p:nvSpPr>
        <p:spPr>
          <a:xfrm>
            <a:off x="10922000" y="24384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7DFA7CC-29DC-91CF-20D2-1EF249E7D6DB}"/>
              </a:ext>
            </a:extLst>
          </p:cNvPr>
          <p:cNvSpPr>
            <a:spLocks noGrp="1"/>
          </p:cNvSpPr>
          <p:nvPr/>
        </p:nvSpPr>
        <p:spPr>
          <a:xfrm>
            <a:off x="10299700" y="25273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348978D-58E8-3B0D-D3A6-E42FDD618FE6}"/>
              </a:ext>
            </a:extLst>
          </p:cNvPr>
          <p:cNvSpPr>
            <a:spLocks noGrp="1"/>
          </p:cNvSpPr>
          <p:nvPr/>
        </p:nvSpPr>
        <p:spPr>
          <a:xfrm>
            <a:off x="10833100" y="25273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20EAE5D-5139-E7D8-4C97-37F3B8612080}"/>
              </a:ext>
            </a:extLst>
          </p:cNvPr>
          <p:cNvSpPr>
            <a:spLocks noGrp="1"/>
          </p:cNvSpPr>
          <p:nvPr/>
        </p:nvSpPr>
        <p:spPr>
          <a:xfrm>
            <a:off x="10388600" y="26162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B5957FB-B83B-C9C8-8841-1EAF6C3378B2}"/>
              </a:ext>
            </a:extLst>
          </p:cNvPr>
          <p:cNvSpPr>
            <a:spLocks noGrp="1"/>
          </p:cNvSpPr>
          <p:nvPr/>
        </p:nvSpPr>
        <p:spPr>
          <a:xfrm>
            <a:off x="10744200" y="26162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CF85DA6-1D02-21D4-CD83-78005CA40D02}"/>
              </a:ext>
            </a:extLst>
          </p:cNvPr>
          <p:cNvSpPr>
            <a:spLocks noGrp="1"/>
          </p:cNvSpPr>
          <p:nvPr/>
        </p:nvSpPr>
        <p:spPr>
          <a:xfrm>
            <a:off x="10477500" y="27051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43689A6-AB4E-27C1-E472-0307F5FA5877}"/>
              </a:ext>
            </a:extLst>
          </p:cNvPr>
          <p:cNvSpPr>
            <a:spLocks noGrp="1"/>
          </p:cNvSpPr>
          <p:nvPr/>
        </p:nvSpPr>
        <p:spPr>
          <a:xfrm>
            <a:off x="10655300" y="27051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E3A6CD2-EBBE-ED52-926C-59C78F7B3F0B}"/>
              </a:ext>
            </a:extLst>
          </p:cNvPr>
          <p:cNvSpPr>
            <a:spLocks noGrp="1"/>
          </p:cNvSpPr>
          <p:nvPr/>
        </p:nvSpPr>
        <p:spPr>
          <a:xfrm>
            <a:off x="10566400" y="2794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>
            <a:spLocks noGrp="1"/>
          </p:cNvSpPr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2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>
            <a:spLocks noGrp="1"/>
          </p:cNvSpPr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mpd="sng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>
            <a:spLocks noGrp="1"/>
          </p:cNvSpPr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4400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Finly</a:t>
            </a:r>
          </a:p>
          <a:p>
            <a:endParaRPr sz="4400" dirty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8286750" cy="7239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Финансовый трекер с AI ассистентом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>
            <a:spLocks noGrp="1"/>
          </p:cNvSpPr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>
            <a:spLocks noGrp="1"/>
          </p:cNvSpPr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Рыбы дипсика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>
            <a:spLocks noGrp="1"/>
          </p:cNvSpPr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>
            <a:spLocks noGrp="1"/>
          </p:cNvSpPr>
          <p:nvPr/>
        </p:nvSpPr>
        <p:spPr>
          <a:xfrm>
            <a:off x="4057650" y="4629150"/>
            <a:ext cx="72390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Максим Чепиков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</a:t>
            </a:r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·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Петр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Макаров</a:t>
            </a: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Backend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·</a:t>
            </a:r>
            <a:r>
              <a:rPr lang="en-US" sz="1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Павел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Тагиров</a:t>
            </a:r>
            <a:r>
              <a:rPr lang="en-US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Дизайн</a:t>
            </a: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D32DCE5-60ED-4096-A828-F2314795F00C}"/>
              </a:ext>
            </a:extLst>
          </p:cNvPr>
          <p:cNvSpPr>
            <a:spLocks noGrp="1"/>
          </p:cNvSpPr>
          <p:nvPr/>
        </p:nvSpPr>
        <p:spPr>
          <a:xfrm>
            <a:off x="609600" y="6070600"/>
            <a:ext cx="10972800" cy="0"/>
          </a:xfrm>
          <a:prstGeom prst="line">
            <a:avLst/>
          </a:prstGeom>
          <a:ln w="9525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87" name="Рисунок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4797612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7535094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2054412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5035737" y="4544383"/>
            <a:ext cx="11897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Макаров Петр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5035737" y="4830133"/>
            <a:ext cx="20664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rgbClr val="64748B"/>
                </a:solidFill>
                <a:latin typeface="Plus Jakarta Sans"/>
              </a:rPr>
              <a:t>Backend 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Архитектор решения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7773219" y="4544383"/>
            <a:ext cx="12030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Тагиров Павел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7773219" y="4830133"/>
            <a:ext cx="12303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Frontend 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Дизайн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2292537" y="4544383"/>
            <a:ext cx="142859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Чепиков Максим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2292537" y="4830133"/>
            <a:ext cx="26082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Product &amp; Системный анализ</a:t>
            </a:r>
          </a:p>
        </p:txBody>
      </p:sp>
      <p:pic>
        <p:nvPicPr>
          <p:cNvPr id="62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0E1D1D13-5BB6-8F21-95D8-345C36B0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412" y="1646869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527F1BCD-5987-2354-238D-9E8EE19D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230" y="1646868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DA4582CB-C24E-C6B3-3965-9F7D4236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094" y="1646869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3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5EBB56-357A-5B5B-EAE6-54DF4B36C072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464650-57A5-6038-3C19-ABD35C70CCED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33F275-B5A6-CD84-C8D6-43722379BC37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46BD27B-B30F-75D8-D038-BC482E3A83EE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987744-83E3-17B7-5EEE-1E7DC335CE03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170354A-5759-6C04-3499-FF17F45AC393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939AC5-A903-76D1-630F-41B6111A29F3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2B040C-3D7F-9BB7-77B0-0210652FB3FE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DF23A4A-FF68-DBA0-96EE-84B0CD1B3E54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2958C7-31FD-1CF5-A78B-6ECEB1F410B5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58F7045-378E-1F99-012A-CDF218F43DAA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9FD4C9-8DBD-C8C7-5064-DC523830DF16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8EEC14-237A-E305-4088-2E6873D9C01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19D5A1-D3DB-DCE4-4122-CA0665D4DB36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A57463D-7DAA-FFD4-FD1B-F7D83518391C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0A296D2-2543-8641-CC43-CBA2AB99CE6E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A95BCB7-F087-60F3-5F9D-F619AAFC957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C3DD72-1D87-E672-A3F1-E76FC17459F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3F78585-866D-0E02-FFDB-F256D11A6D5D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F91DB89-B1E2-9D92-EC27-7BC49DDA966B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1382261-F42F-B719-73A8-CA774DFE20FA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207365F-4DAF-5588-DA13-5F816DC9369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33CFB26-3610-C0AB-C4D3-534D50F6B34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8F27330-18D8-4158-3E93-EA307EE2F0D6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25CCF48-A646-3FD2-154F-541E3C9D3C54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980ECCD-BAE5-E230-01FA-29A01E625AF0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F641627-78AE-C00B-8C2C-082FF5070B3C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2436800-F9A7-4F14-CA87-26B24A96ADA7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>
            <a:spLocks noGrp="1"/>
          </p:cNvSpPr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>
            <a:spLocks noGrp="1"/>
          </p:cNvSpPr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Студенту сложно понять, хватит ли денег до следующего поступления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>
            <a:spLocks noGrp="1"/>
          </p:cNvSpPr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>
            <a:spLocks noGrp="1"/>
          </p:cNvSpPr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>
            <a:spLocks noGrp="1"/>
          </p:cNvSpPr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952750" cy="13335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совмещают учёбу и подработку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>
            <a:spLocks noGrp="1"/>
          </p:cNvSpPr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>
            <a:spLocks noGrp="1"/>
          </p:cNvSpPr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>
            <a:spLocks noGrp="1"/>
          </p:cNvSpPr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>
            <a:spLocks noGrp="1"/>
          </p:cNvSpPr>
          <p:nvPr/>
        </p:nvSpPr>
        <p:spPr>
          <a:xfrm>
            <a:off x="4581525" y="3905250"/>
            <a:ext cx="2952750" cy="15049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приходит по расписанию. Выплаты за смены меняются по сумме и дате.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>
            <a:spLocks noGrp="1"/>
          </p:cNvSpPr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>
            <a:spLocks noGrp="1"/>
          </p:cNvSpPr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>
            <a:spLocks noGrp="1"/>
          </p:cNvSpPr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>
            <a:spLocks noGrp="1"/>
          </p:cNvSpPr>
          <p:nvPr/>
        </p:nvSpPr>
        <p:spPr>
          <a:xfrm>
            <a:off x="8315325" y="3905250"/>
            <a:ext cx="2952750" cy="15049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Остаток на карте не показывает, сколько денег останется после обязательных платежей.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61991E-6A1F-D7A4-F342-F73157C707E7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E4CE54-FFF6-A969-E9B7-9B4191403C95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E64657D-D2A1-AC5C-802A-698B9F6A725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F97B05-DAC9-B61C-B394-D46CAB72099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F21BAF-0531-CC27-610E-A88E52B080D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F228FD-634B-A71A-6C7F-040F622A9EB1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FF8834-AC51-783B-F4EE-4B7ED1685F88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657C1A-A19C-8442-2DF2-C0459A665C62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DD9CD7-FA6E-9B7D-B5FB-6F4440A3B69B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FCF398-0DA1-06A1-99C6-A118DBC767EF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42711D-C84D-271D-0782-0139C41E5BD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47B9B6-8D31-2105-9375-AF83D4BDDE67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876DE32-1E85-27A7-8432-1E022F1AC27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6C9D4CC-EB52-68CA-6027-D9BA6C659291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3EA97F5-9416-1D12-093A-E48367F45EE3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3CD0466-70EE-7302-F3A8-A98CCEB0C227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6D4264-7F21-BE89-589F-2CCF2AD9F9E4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77BB96-9250-7E3A-60D3-D5469B8CED58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11507E5-1367-063F-3FB7-579C36B01586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8DA347-9E40-78BF-3146-EC62CD51A093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1742702-C865-2982-9428-433CD15D886C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9AA0890-1B5F-5A6F-2A35-47F9C431F15F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2E6DB67-44A6-88BB-218C-BDCCE0B584E5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92E34B9-24A9-424F-FB8D-A398D0B158D2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25126ED-7BE8-6B7F-7D71-7DC635CBDDFB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083EEE3-30A0-B936-95FC-0E80BC47DBBC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D36EB8-6D8B-59C0-D2BE-912333CB3546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514C11-7344-35B2-746D-5912F3751BBF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3810000" cy="4445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ABE81A78-B8F3-C59C-3E6C-E0A1AA1CD8DE}"/>
              </a:ext>
            </a:extLst>
          </p:cNvPr>
          <p:cNvSpPr>
            <a:spLocks noGrp="1"/>
          </p:cNvSpPr>
          <p:nvPr/>
        </p:nvSpPr>
        <p:spPr>
          <a:xfrm>
            <a:off x="1752600" y="1625600"/>
            <a:ext cx="1524000" cy="152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397505D-CB13-D618-E2CC-A5E44E8ACD9F}"/>
              </a:ext>
            </a:extLst>
          </p:cNvPr>
          <p:cNvSpPr>
            <a:spLocks noGrp="1"/>
          </p:cNvSpPr>
          <p:nvPr/>
        </p:nvSpPr>
        <p:spPr>
          <a:xfrm>
            <a:off x="22796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B903745-8678-B1FA-991C-4EED7CE2F1CC}"/>
              </a:ext>
            </a:extLst>
          </p:cNvPr>
          <p:cNvSpPr>
            <a:spLocks noGrp="1"/>
          </p:cNvSpPr>
          <p:nvPr/>
        </p:nvSpPr>
        <p:spPr>
          <a:xfrm>
            <a:off x="233680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931ACBA-1FA4-91C6-1523-1CA9AFD5DBE9}"/>
              </a:ext>
            </a:extLst>
          </p:cNvPr>
          <p:cNvSpPr>
            <a:spLocks noGrp="1"/>
          </p:cNvSpPr>
          <p:nvPr/>
        </p:nvSpPr>
        <p:spPr>
          <a:xfrm>
            <a:off x="23939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FAE1B5-7620-4541-8554-84A3B886324C}"/>
              </a:ext>
            </a:extLst>
          </p:cNvPr>
          <p:cNvSpPr>
            <a:spLocks noGrp="1"/>
          </p:cNvSpPr>
          <p:nvPr/>
        </p:nvSpPr>
        <p:spPr>
          <a:xfrm>
            <a:off x="26225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A4FA758-43BD-97F5-81D9-5ACD06EE9149}"/>
              </a:ext>
            </a:extLst>
          </p:cNvPr>
          <p:cNvSpPr>
            <a:spLocks noGrp="1"/>
          </p:cNvSpPr>
          <p:nvPr/>
        </p:nvSpPr>
        <p:spPr>
          <a:xfrm>
            <a:off x="267970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C8F0FAA-68BF-AE4E-9D2A-25281F8B9BDE}"/>
              </a:ext>
            </a:extLst>
          </p:cNvPr>
          <p:cNvSpPr>
            <a:spLocks noGrp="1"/>
          </p:cNvSpPr>
          <p:nvPr/>
        </p:nvSpPr>
        <p:spPr>
          <a:xfrm>
            <a:off x="27368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E42AF72-B216-24BF-7EDC-45B075161D46}"/>
              </a:ext>
            </a:extLst>
          </p:cNvPr>
          <p:cNvSpPr>
            <a:spLocks noGrp="1"/>
          </p:cNvSpPr>
          <p:nvPr/>
        </p:nvSpPr>
        <p:spPr>
          <a:xfrm>
            <a:off x="22225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8A379BB-74BD-DFE4-B8F3-4755CB6162E5}"/>
              </a:ext>
            </a:extLst>
          </p:cNvPr>
          <p:cNvSpPr>
            <a:spLocks noGrp="1"/>
          </p:cNvSpPr>
          <p:nvPr/>
        </p:nvSpPr>
        <p:spPr>
          <a:xfrm>
            <a:off x="24511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F0BFF4D-3DE2-3E15-C514-BE1128F43344}"/>
              </a:ext>
            </a:extLst>
          </p:cNvPr>
          <p:cNvSpPr>
            <a:spLocks noGrp="1"/>
          </p:cNvSpPr>
          <p:nvPr/>
        </p:nvSpPr>
        <p:spPr>
          <a:xfrm>
            <a:off x="25654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C64F689-E0D2-99F5-260E-253A11BA25D6}"/>
              </a:ext>
            </a:extLst>
          </p:cNvPr>
          <p:cNvSpPr>
            <a:spLocks noGrp="1"/>
          </p:cNvSpPr>
          <p:nvPr/>
        </p:nvSpPr>
        <p:spPr>
          <a:xfrm>
            <a:off x="27940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B42AAD6-4C31-21CB-7D51-710721A62ACD}"/>
              </a:ext>
            </a:extLst>
          </p:cNvPr>
          <p:cNvSpPr>
            <a:spLocks noGrp="1"/>
          </p:cNvSpPr>
          <p:nvPr/>
        </p:nvSpPr>
        <p:spPr>
          <a:xfrm>
            <a:off x="21653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3430823A-6D47-1BEC-F5C4-A9D5D94E7566}"/>
              </a:ext>
            </a:extLst>
          </p:cNvPr>
          <p:cNvSpPr>
            <a:spLocks noGrp="1"/>
          </p:cNvSpPr>
          <p:nvPr/>
        </p:nvSpPr>
        <p:spPr>
          <a:xfrm>
            <a:off x="25082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5FC7404-B560-26DA-8F1A-25B02BD86B03}"/>
              </a:ext>
            </a:extLst>
          </p:cNvPr>
          <p:cNvSpPr>
            <a:spLocks noGrp="1"/>
          </p:cNvSpPr>
          <p:nvPr/>
        </p:nvSpPr>
        <p:spPr>
          <a:xfrm>
            <a:off x="28511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B597668-23A0-7C64-1959-21203B4DEA09}"/>
              </a:ext>
            </a:extLst>
          </p:cNvPr>
          <p:cNvSpPr>
            <a:spLocks noGrp="1"/>
          </p:cNvSpPr>
          <p:nvPr/>
        </p:nvSpPr>
        <p:spPr>
          <a:xfrm>
            <a:off x="2165350" y="22796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51C2EFC-0CAD-F754-F875-1991C1D9AB1C}"/>
              </a:ext>
            </a:extLst>
          </p:cNvPr>
          <p:cNvSpPr>
            <a:spLocks noGrp="1"/>
          </p:cNvSpPr>
          <p:nvPr/>
        </p:nvSpPr>
        <p:spPr>
          <a:xfrm>
            <a:off x="2851150" y="22796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392214E-7B20-49AC-FFAF-30CB637116BA}"/>
              </a:ext>
            </a:extLst>
          </p:cNvPr>
          <p:cNvSpPr>
            <a:spLocks noGrp="1"/>
          </p:cNvSpPr>
          <p:nvPr/>
        </p:nvSpPr>
        <p:spPr>
          <a:xfrm>
            <a:off x="2165350" y="23368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95860716-4722-E4B5-F04F-50E9C9B68A29}"/>
              </a:ext>
            </a:extLst>
          </p:cNvPr>
          <p:cNvSpPr>
            <a:spLocks noGrp="1"/>
          </p:cNvSpPr>
          <p:nvPr/>
        </p:nvSpPr>
        <p:spPr>
          <a:xfrm>
            <a:off x="2851150" y="23368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18F35DB-0C5D-B4B1-7F35-AEB6A2BA461A}"/>
              </a:ext>
            </a:extLst>
          </p:cNvPr>
          <p:cNvSpPr>
            <a:spLocks noGrp="1"/>
          </p:cNvSpPr>
          <p:nvPr/>
        </p:nvSpPr>
        <p:spPr>
          <a:xfrm>
            <a:off x="2222500" y="23939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63673EA-DE7B-9D26-5E7B-8EBE66DD6845}"/>
              </a:ext>
            </a:extLst>
          </p:cNvPr>
          <p:cNvSpPr>
            <a:spLocks noGrp="1"/>
          </p:cNvSpPr>
          <p:nvPr/>
        </p:nvSpPr>
        <p:spPr>
          <a:xfrm>
            <a:off x="2794000" y="23939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846C2CF8-1EA3-35F3-6DB6-61AB50B680C9}"/>
              </a:ext>
            </a:extLst>
          </p:cNvPr>
          <p:cNvSpPr>
            <a:spLocks noGrp="1"/>
          </p:cNvSpPr>
          <p:nvPr/>
        </p:nvSpPr>
        <p:spPr>
          <a:xfrm>
            <a:off x="2279650" y="24511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3E7C103-C924-0952-5DEE-3AE2D6A7EF52}"/>
              </a:ext>
            </a:extLst>
          </p:cNvPr>
          <p:cNvSpPr>
            <a:spLocks noGrp="1"/>
          </p:cNvSpPr>
          <p:nvPr/>
        </p:nvSpPr>
        <p:spPr>
          <a:xfrm>
            <a:off x="2736850" y="24511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4D3CA6DA-EB83-B44F-5C4A-E96021E03133}"/>
              </a:ext>
            </a:extLst>
          </p:cNvPr>
          <p:cNvSpPr>
            <a:spLocks noGrp="1"/>
          </p:cNvSpPr>
          <p:nvPr/>
        </p:nvSpPr>
        <p:spPr>
          <a:xfrm>
            <a:off x="2336800" y="25082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7BC3720-9408-DC5B-DA54-8141C8D41575}"/>
              </a:ext>
            </a:extLst>
          </p:cNvPr>
          <p:cNvSpPr>
            <a:spLocks noGrp="1"/>
          </p:cNvSpPr>
          <p:nvPr/>
        </p:nvSpPr>
        <p:spPr>
          <a:xfrm>
            <a:off x="2679700" y="25082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A6934A12-1494-446E-B9B7-4E06AC6F1A35}"/>
              </a:ext>
            </a:extLst>
          </p:cNvPr>
          <p:cNvSpPr>
            <a:spLocks noGrp="1"/>
          </p:cNvSpPr>
          <p:nvPr/>
        </p:nvSpPr>
        <p:spPr>
          <a:xfrm>
            <a:off x="2393950" y="25654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ADC189E-D130-2E90-4521-99DA086EC403}"/>
              </a:ext>
            </a:extLst>
          </p:cNvPr>
          <p:cNvSpPr>
            <a:spLocks noGrp="1"/>
          </p:cNvSpPr>
          <p:nvPr/>
        </p:nvSpPr>
        <p:spPr>
          <a:xfrm>
            <a:off x="2622550" y="25654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39A83C9-58AD-9D59-A10C-E8E11DF9CE7C}"/>
              </a:ext>
            </a:extLst>
          </p:cNvPr>
          <p:cNvSpPr>
            <a:spLocks noGrp="1"/>
          </p:cNvSpPr>
          <p:nvPr/>
        </p:nvSpPr>
        <p:spPr>
          <a:xfrm>
            <a:off x="2451100" y="26225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ACC00643-7925-632B-CE94-57C77BE01CCB}"/>
              </a:ext>
            </a:extLst>
          </p:cNvPr>
          <p:cNvSpPr>
            <a:spLocks noGrp="1"/>
          </p:cNvSpPr>
          <p:nvPr/>
        </p:nvSpPr>
        <p:spPr>
          <a:xfrm>
            <a:off x="2565400" y="26225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61507F75-FAA3-4E1F-9E6F-F6FDE96EA929}"/>
              </a:ext>
            </a:extLst>
          </p:cNvPr>
          <p:cNvSpPr>
            <a:spLocks noGrp="1"/>
          </p:cNvSpPr>
          <p:nvPr/>
        </p:nvSpPr>
        <p:spPr>
          <a:xfrm>
            <a:off x="2508250" y="26797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>
            <a:spLocks noGrp="1"/>
          </p:cNvSpPr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r>
              <a:rPr sz="9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>
            <a:spLocks noGrp="1"/>
          </p:cNvSpPr>
          <p:nvPr/>
        </p:nvSpPr>
        <p:spPr>
          <a:xfrm>
            <a:off x="863600" y="365760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Студент, который сам считает, хватит ли денег до стипендии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>
            <a:spLocks noGrp="1"/>
          </p:cNvSpPr>
          <p:nvPr/>
        </p:nvSpPr>
        <p:spPr>
          <a:xfrm>
            <a:off x="885825" y="4391025"/>
            <a:ext cx="3238500" cy="1066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Учится очно и подрабатывает</a:t>
            </a:r>
          </a:p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Доход от смен меняется</a:t>
            </a:r>
          </a:p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Сам оплачивает повседневные расходы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>
            <a:spLocks noGrp="1"/>
          </p:cNvSpPr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>
            <a:spLocks noGrp="1"/>
          </p:cNvSpPr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>
            <a:spLocks noGrp="1"/>
          </p:cNvSpPr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>
            <a:spLocks noGrp="1"/>
          </p:cNvSpPr>
          <p:nvPr/>
        </p:nvSpPr>
        <p:spPr>
          <a:xfrm>
            <a:off x="5588000" y="18796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самостоятельно управляют личными расходами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>
            <a:spLocks noGrp="1"/>
          </p:cNvSpPr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>
            <a:spLocks noGrp="1"/>
          </p:cNvSpPr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>
            <a:spLocks noGrp="1"/>
          </p:cNvSpPr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>
            <a:spLocks noGrp="1"/>
          </p:cNvSpPr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плюс подработка: деньги приходят в разные даты и разными суммами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>
            <a:spLocks noGrp="1"/>
          </p:cNvSpPr>
          <p:nvPr/>
        </p:nvSpPr>
        <p:spPr>
          <a:xfrm>
            <a:off x="4673600" y="44196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>
            <a:spLocks noGrp="1"/>
          </p:cNvSpPr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>
            <a:spLocks noGrp="1"/>
          </p:cNvSpPr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>
            <a:spLocks noGrp="1"/>
          </p:cNvSpPr>
          <p:nvPr/>
        </p:nvSpPr>
        <p:spPr>
          <a:xfrm>
            <a:off x="5588000" y="49784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Нужно учесть жильё, связь и резерв, прежде чем решить, сколько тратить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4B66FD-F435-7C17-D350-2AD351260734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DAB74C-F431-9350-71AB-974ED36E242D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3AE699-6108-D747-4EC5-C77E68ACD9C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BBED82-C31C-727B-C84E-7DBB4742E5B7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CCC5E9-D85D-7B03-5434-D44A77CD1CA9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8FFD90-6C58-E810-8B58-97F9D3B8B687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B7519F-6B70-ADA6-3216-4CB5C37F26A2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7009FEC-E36C-8C13-610D-954527E15E9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1C221F-E1C8-1D93-7194-FB70258F3CB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C142320-4D8E-D458-941C-F5153A5B2092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C6D7C0C-26E5-0142-A059-9F593EF615B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F0A95D-824A-3C3E-8104-D6FA466C3420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1B85C5-A21D-A791-35A8-8D953D6F629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142C75E-B0BC-C09D-27A7-3ABD329C83E1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737EFE9-4A4F-99CD-4308-130F8B18A54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57A66CC-87CC-2AFD-5175-871BE074F88B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41770E3-D9B2-2226-A7E9-BA35B6BE3E2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392808F-5C93-678A-68B7-726AFE03B4D6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3A129F-FCF5-C070-4F66-FB4DB6473489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87E3A7A-0E62-527D-A2DC-51B6F91D901B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A7B157A-9CA9-A442-7316-5B9AD712BFD4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D3FE673-D6B7-8F95-6FE9-90F09BE3A946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9312BD8-55AE-5C20-91B7-BD5B5FBE895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5DB632F-87CD-A2F8-0683-9CC71AF281A9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736626B-7072-B270-DDF2-99EF02B066F9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4C36A90-E70F-B8BB-98A7-3778E73BFEE4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F590B6C-F52F-F2A1-1040-F3879F3A1351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6798FB0-2739-0CE2-FC75-C252CD3D34EF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5953125" cy="11811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finly собирает операции и рассчитывает дневной бюджет с учётом платежей, резерва и даты поступления.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>
            <a:spLocks noGrp="1"/>
          </p:cNvSpPr>
          <p:nvPr/>
        </p:nvSpPr>
        <p:spPr>
          <a:xfrm>
            <a:off x="6096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>
            <a:spLocks noGrp="1"/>
          </p:cNvSpPr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>
            <a:spLocks noGrp="1"/>
          </p:cNvSpPr>
          <p:nvPr/>
        </p:nvSpPr>
        <p:spPr>
          <a:xfrm>
            <a:off x="809625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Непонятно, сколько можно потратить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>
            <a:spLocks noGrp="1"/>
          </p:cNvSpPr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>
            <a:spLocks noGrp="1"/>
          </p:cNvSpPr>
          <p:nvPr/>
        </p:nvSpPr>
        <p:spPr>
          <a:xfrm>
            <a:off x="29210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>
            <a:spLocks noGrp="1"/>
          </p:cNvSpPr>
          <p:nvPr/>
        </p:nvSpPr>
        <p:spPr>
          <a:xfrm>
            <a:off x="31242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>
            <a:spLocks noGrp="1"/>
          </p:cNvSpPr>
          <p:nvPr/>
        </p:nvSpPr>
        <p:spPr>
          <a:xfrm>
            <a:off x="3124200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Учитываем остаток и будущие платежи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>
            <a:spLocks noGrp="1"/>
          </p:cNvSpPr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>
            <a:spLocks noGrp="1"/>
          </p:cNvSpPr>
          <p:nvPr/>
        </p:nvSpPr>
        <p:spPr>
          <a:xfrm>
            <a:off x="52324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>
            <a:spLocks noGrp="1"/>
          </p:cNvSpPr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>
            <a:spLocks noGrp="1"/>
          </p:cNvSpPr>
          <p:nvPr/>
        </p:nvSpPr>
        <p:spPr>
          <a:xfrm>
            <a:off x="5438775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лимит на каждый день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>
            <a:spLocks noGrp="1"/>
          </p:cNvSpPr>
          <p:nvPr/>
        </p:nvSpPr>
        <p:spPr>
          <a:xfrm>
            <a:off x="7721600" y="3314700"/>
            <a:ext cx="3657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endParaRPr sz="1200" b="1">
              <a:solidFill>
                <a:srgbClr val="6B789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63E1C79-80B8-41B6-B56B-0997656E94BA}"/>
              </a:ext>
            </a:extLst>
          </p:cNvPr>
          <p:cNvSpPr>
            <a:spLocks noGrp="1"/>
          </p:cNvSpPr>
          <p:nvPr/>
        </p:nvSpPr>
        <p:spPr>
          <a:xfrm>
            <a:off x="7620000" y="159067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НАЧАТЬ МОЖНО С ВЫПИСКИ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F7E23B5-4ACD-4BFD-96BB-8051A1DEABF6}"/>
              </a:ext>
            </a:extLst>
          </p:cNvPr>
          <p:cNvSpPr>
            <a:spLocks noGrp="1"/>
          </p:cNvSpPr>
          <p:nvPr/>
        </p:nvSpPr>
        <p:spPr>
          <a:xfrm>
            <a:off x="7620000" y="2057400"/>
            <a:ext cx="3905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PDF или CSV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A9F0B3C-6215-40AE-A12A-A5C82B1DEF63}"/>
              </a:ext>
            </a:extLst>
          </p:cNvPr>
          <p:cNvSpPr>
            <a:spLocks noGrp="1"/>
          </p:cNvSpPr>
          <p:nvPr/>
        </p:nvSpPr>
        <p:spPr>
          <a:xfrm>
            <a:off x="7620000" y="2695575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Пользователь проверяет операции перед сохранением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762D25E3-D5AA-4AE3-BE00-1C8A5C0500E9}"/>
              </a:ext>
            </a:extLst>
          </p:cNvPr>
          <p:cNvSpPr>
            <a:spLocks noGrp="1"/>
          </p:cNvSpPr>
          <p:nvPr/>
        </p:nvSpPr>
        <p:spPr>
          <a:xfrm>
            <a:off x="7620000" y="4191000"/>
            <a:ext cx="3905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Для демонстрации автоматизации подключён учебный банк</a:t>
            </a:r>
          </a:p>
        </p:txBody>
      </p:sp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829D8C-F18D-B1E8-728B-BB2562909BB7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6AB556-3B7B-8845-08D5-6C9805AD1B1E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9A401B-8D57-1568-BA79-F4E408E97912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7F383E-DFD5-4AA8-2C93-D47C2C82C2D3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7D6249-6352-1195-304E-92584816161F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6A21B5-1A51-818A-D50C-9418DC9AC4DB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9842DD4-0511-5F15-23BE-DB86DD033E0F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6CB868-B1DB-CF6C-D35A-584675C10155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A20F218-7463-B104-0477-505853547E39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C55B7B9-7CC5-DBFF-AADA-2481453243C3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E1266-F93C-8835-4133-025814D3B70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AE24A51-45F6-C1A3-5A03-4C977A4510BC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212C6B-0FEC-12CF-8E7C-E2518163D28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1DB416-5A80-6B30-F839-FC15CE755C72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98EFEDD-4734-62D4-93E9-6D6811EABBED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C85B963-3F3D-1EFA-E809-0BE69EB9C37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0BA5B2-2E9A-9BA8-D892-6F2BFC478DC7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4BC92F9-D6ED-524B-940E-C4C6327F7C83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4260F5F-1E0D-2A13-E001-ACEDCD02092A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6FBB2FA-A625-890A-046E-4E6B45448AAE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827E2D-E3F1-4EFE-7039-F19A896110F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20F2483-D5C8-D338-D4F7-D14DE4DC0DB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FDDBE40-77B2-78C7-0750-BA0DD6668148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403811-8CC5-CCF1-086C-D5C1F8FD94DA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FB7E1DA-9FC3-B410-AF03-D92B87D49D94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4204A84-4C38-8054-15DE-6DF9283F1A23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CE84307-58D8-2681-F279-CD6D0A34F33D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7669487-4751-3EF6-9CDC-D58043E97D22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858500" cy="4191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ориентир для ежедневных трат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BCCC2A1-396E-48F0-BD5D-CBEE413BC784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ПРИМЕР РАСЧЁТА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ED6F71B-C343-4FE0-907C-197D592140A1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0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20 000 ₽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5315A6-49BB-453B-8256-DDB04C5E2138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известный остаток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32E99F7-C110-4A79-9CCE-D94BCBB0A4E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4857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3 000 ₽  обязательные платежи</a:t>
            </a:r>
          </a:p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2 000 ₽  резерв</a:t>
            </a:r>
          </a:p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10 дней  до поступления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12808F7-9450-4739-A035-BDBEB030C99E}"/>
              </a:ext>
            </a:extLst>
          </p:cNvPr>
          <p:cNvSpPr>
            <a:spLocks noGrp="1"/>
          </p:cNvSpPr>
          <p:nvPr/>
        </p:nvSpPr>
        <p:spPr>
          <a:xfrm>
            <a:off x="6705600" y="256222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51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1 500 ₽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C85FC30-A6DC-4927-8F1E-9E964888B218}"/>
              </a:ext>
            </a:extLst>
          </p:cNvPr>
          <p:cNvSpPr>
            <a:spLocks noGrp="1"/>
          </p:cNvSpPr>
          <p:nvPr/>
        </p:nvSpPr>
        <p:spPr>
          <a:xfrm>
            <a:off x="6705600" y="35433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можно тратить в день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CC05DAC-3ED4-45EA-B215-ACD4D7166872}"/>
              </a:ext>
            </a:extLst>
          </p:cNvPr>
          <p:cNvSpPr>
            <a:spLocks noGrp="1"/>
          </p:cNvSpPr>
          <p:nvPr/>
        </p:nvSpPr>
        <p:spPr>
          <a:xfrm>
            <a:off x="6705600" y="4305300"/>
            <a:ext cx="4619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(20 000 − 3 000 − 2 000) / 10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EDA626A3-C781-4382-9979-AD77EA619D9A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Условный пример без холдов. Эффект для пользователей проверим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3AC839-088C-800A-C07E-E7EFC2B20FA8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00FA75-7B51-78BA-C469-71C723B6D618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04A54D-F4C4-6EC1-6BC0-5BC3779E6BD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7DC6FF1-5B31-8BBF-CEA5-F04A2D0C055E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043EF6-68A1-26B9-1A90-80D7952738D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A73092C-48E3-FE2D-2DDA-314671BCB2FA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DBD3CEA-DB45-533C-F675-B3AA252F2340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98F202-D5FE-85D9-1617-394A29177AFD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833D220-BC3C-E4EF-6A33-AEEEF55D3AAF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E26C02-A69C-8DCF-15EA-0A20F76CFA80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D10AEEF-1C1D-6196-A8ED-080DF0CA4E44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8CF15D4-15EE-12A6-78B3-3F0ED065BAF9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F8C52B-4582-59F7-2A19-E5AA8D3A9342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AA342C0-8EED-62C4-A982-D24EE7BE4492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D2C90BF-2D80-E4B4-62F9-0E3B7A1CC6D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5556CD-EE91-AC2F-5587-D458DB0C422F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512EDD7-DB62-C172-F236-7CBEC7B6C161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27744A8-3666-84AF-23B6-20DE9942333D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74639A0-915A-1CA2-D63C-ED5B9DF5594D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B861A95-B934-5A10-39EF-511EFAE77723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530CDA2-4A70-2274-B6FE-81A337A4D40E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1783F43-53DA-22F9-8D60-B82B5AC358C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F25574E-BEBC-FDEA-E813-F92CA5453B6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B4A53B2-F49E-9FE1-1C54-DDFB24C01179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D673A5C-960C-2FB9-03A1-C318A6FF38B3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0129FE1-6000-5148-72E8-035A7D4DBDD6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8B88AA-035E-CF13-9E96-1C955D52C9F7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0EA62EB-6878-E4A7-0485-6DBC7CE09F8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Ключевые возможности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FFB32DC-ACBD-4972-A0CE-F0FB6572975E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Импорт PDF и CSV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4430501-DC45-4DE9-8083-6E94CD815D9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Проверка строк до подтверждения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D7760C2-443D-4914-8AC4-3667B16D7747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до поступления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21E9A0A-D5F5-4CE0-ADB5-E78A2A2050B9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дневной лимит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55ED4E1-6AA0-49C1-8799-571A8E97C5B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Операции и аналитика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5359C7A-F48E-4E54-83C0-C53E7FF264A1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Категории расходов и история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1FA9B34-6656-48F7-A34A-0273F1C9B757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Учебный банковский API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B584ADB-E7A8-45B5-A6EC-64CD4641AF09}"/>
              </a:ext>
            </a:extLst>
          </p:cNvPr>
          <p:cNvSpPr>
            <a:spLocks noGrp="1"/>
          </p:cNvSpPr>
          <p:nvPr/>
        </p:nvSpPr>
        <p:spPr>
          <a:xfrm>
            <a:off x="6324600" y="35528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Счета, остатки и синхронизация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2E85F88-5196-4475-A5DF-572E416B7A6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Предупреждения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CDF260A-CA5E-4942-9029-D4A78085C7D7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Крупная покупка и превышение лимита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3F6A11D-8B81-4C8A-9D2E-A0598431DCA7}"/>
              </a:ext>
            </a:extLst>
          </p:cNvPr>
          <p:cNvSpPr>
            <a:spLocks noGrp="1"/>
          </p:cNvSpPr>
          <p:nvPr/>
        </p:nvSpPr>
        <p:spPr>
          <a:xfrm>
            <a:off x="6324600" y="44958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AI-помощник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E3781F6-50C3-4B6E-ACF4-CAE7ACC5E3E7}"/>
              </a:ext>
            </a:extLst>
          </p:cNvPr>
          <p:cNvSpPr>
            <a:spLocks noGrp="1"/>
          </p:cNvSpPr>
          <p:nvPr/>
        </p:nvSpPr>
        <p:spPr>
          <a:xfrm>
            <a:off x="6324600" y="49625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Объясняет расчётные показатели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6D94247-F568-443F-886C-95A66C826946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AC90"/>
                </a:solidFill>
                <a:latin typeface="Arial"/>
                <a:ea typeface="Arial"/>
                <a:cs typeface="Arial"/>
              </a:rPr>
              <a:t>Локальный MVP. Реальные банковские счета и платежи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3B2A64-18F5-E291-1A6E-FEEA3E071C06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BA97DEB-3209-6C4F-1222-38F69B6F8645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2A37FD-960B-EA9B-FBE4-A13DD79E66A3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29764A-0A37-BF7A-D00A-B8A6DE76E105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BFCA72-4940-49D5-F42E-4273E35A4A43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9693858-1E11-C515-0FF4-0E51805A1042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D393096-A2B0-6CC4-E411-4BCEE217562A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BB76C3D-02C0-16F2-034B-BCF6950BEAC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8B162A-1E45-3F79-B84C-9278FAC37B9D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CF9285-84CD-CC8A-A2BB-8E77E3F8AF3F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ECC5F7-9E77-3CC7-B4B4-1AB9E695A650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5C04CC1-C621-4BB7-563A-BDD786B564D9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769C0F-0DFC-406C-03CF-248BEF4CF96E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5A6BB7-9ADE-53FF-33EF-D3328FD3836D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1CF1239-BA43-56D8-4E52-EC3367417E0F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274341B-0086-8359-F3F4-495680513874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2831725-310E-003B-660E-B62C33244B25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E3D8DF4-E120-1A63-ABE0-306191FA2426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521F739-4152-9755-7891-54D50BA29B17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3834688-7880-ADA2-4948-AFF17BEE31DA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6A58923-AA62-A71F-D9B0-ADA7D068D172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FCBE72C-8843-E76C-567A-8C4D749FC558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B5C589-A8B9-00BD-8401-DBBCF2C6CB6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58D8DFF-2D91-9160-7D0C-8986508CAD9B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EFF877-9A21-1777-5831-E764827FB1B5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5728125-4E74-3463-FC12-98C6CCC7ABE8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CE4F64C-9681-DB7B-1FB2-4FC23738DEB7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8CC6418-743D-D9C8-9C98-BC096C8845EC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после каждой покупки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>
            <a:spLocks noGrp="1"/>
          </p:cNvSpPr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>
            <a:spLocks noGrp="1"/>
          </p:cNvSpPr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меняет</a:t>
            </a:r>
          </a:p>
          <a:p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 на оставшиеся дни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>
            <a:spLocks noGrp="1"/>
          </p:cNvSpPr>
          <p:nvPr/>
        </p:nvSpPr>
        <p:spPr>
          <a:xfrm>
            <a:off x="965200" y="3251200"/>
            <a:ext cx="5892800" cy="1143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Новая операция уменьшает доступную сумму. finly пересчитывает дневной бюджет и обновляет открытый экран.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>
            <a:spLocks noGrp="1"/>
          </p:cNvSpPr>
          <p:nvPr/>
        </p:nvSpPr>
        <p:spPr>
          <a:xfrm>
            <a:off x="965200" y="4673600"/>
            <a:ext cx="5892800" cy="736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>
            <a:spLocks noGrp="1"/>
          </p:cNvSpPr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ПОКАЖЕМ НА ДЕМО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>
            <a:spLocks noGrp="1"/>
          </p:cNvSpPr>
          <p:nvPr/>
        </p:nvSpPr>
        <p:spPr>
          <a:xfrm>
            <a:off x="1219200" y="5029200"/>
            <a:ext cx="53848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Расход 12 000 ₽ изменит остаток и лимит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>
            <a:spLocks noGrp="1"/>
          </p:cNvSpPr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ФОКУС ПРОДУКТА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>
            <a:spLocks noGrp="1"/>
          </p:cNvSpPr>
          <p:nvPr/>
        </p:nvSpPr>
        <p:spPr>
          <a:xfrm>
            <a:off x="7518400" y="16256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>
            <a:spLocks noGrp="1"/>
          </p:cNvSpPr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>
            <a:spLocks noGrp="1"/>
          </p:cNvSpPr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До следующего поступления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>
            <a:spLocks noGrp="1"/>
          </p:cNvSpPr>
          <p:nvPr/>
        </p:nvSpPr>
        <p:spPr>
          <a:xfrm>
            <a:off x="7772400" y="2717800"/>
            <a:ext cx="3556000" cy="7112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Планирование вокруг даты стипендии и известных обязательств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>
            <a:spLocks noGrp="1"/>
          </p:cNvSpPr>
          <p:nvPr/>
        </p:nvSpPr>
        <p:spPr>
          <a:xfrm>
            <a:off x="7518400" y="37592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>
            <a:spLocks noGrp="1"/>
          </p:cNvSpPr>
          <p:nvPr/>
        </p:nvSpPr>
        <p:spPr>
          <a:xfrm>
            <a:off x="7772400" y="40132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>
            <a:spLocks noGrp="1"/>
          </p:cNvSpPr>
          <p:nvPr/>
        </p:nvSpPr>
        <p:spPr>
          <a:xfrm>
            <a:off x="7772400" y="4521200"/>
            <a:ext cx="35560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Объяснимые суммы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>
            <a:spLocks noGrp="1"/>
          </p:cNvSpPr>
          <p:nvPr/>
        </p:nvSpPr>
        <p:spPr>
          <a:xfrm>
            <a:off x="7772400" y="4851400"/>
            <a:ext cx="3556000" cy="7112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Сервер считает бюджет. AI выбирает объяснения по этим данным.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Как это работает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1CF8222-CC55-41E4-B301-8E2AC982174F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BFF7B9-A221-4AA5-B753-8DBD3145B700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9DFE729-4C7A-4319-A9F6-65EEE18F1F43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Выписка или учебный банк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143696D-B549-4912-A006-8EA339AA48D1}"/>
              </a:ext>
            </a:extLst>
          </p:cNvPr>
          <p:cNvSpPr>
            <a:spLocks noGrp="1"/>
          </p:cNvSpPr>
          <p:nvPr/>
        </p:nvSpPr>
        <p:spPr>
          <a:xfrm>
            <a:off x="34290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8985A63-5E4D-47A2-85F2-D9B4B9A90754}"/>
              </a:ext>
            </a:extLst>
          </p:cNvPr>
          <p:cNvSpPr>
            <a:spLocks noGrp="1"/>
          </p:cNvSpPr>
          <p:nvPr/>
        </p:nvSpPr>
        <p:spPr>
          <a:xfrm>
            <a:off x="34290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BCA8483-0C00-42B2-9B99-5F274B9E982A}"/>
              </a:ext>
            </a:extLst>
          </p:cNvPr>
          <p:cNvSpPr>
            <a:spLocks noGrp="1"/>
          </p:cNvSpPr>
          <p:nvPr/>
        </p:nvSpPr>
        <p:spPr>
          <a:xfrm>
            <a:off x="34290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Операции и известный остаток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B0DEA1C-67DA-4438-B010-9DE66FC748C8}"/>
              </a:ext>
            </a:extLst>
          </p:cNvPr>
          <p:cNvSpPr>
            <a:spLocks noGrp="1"/>
          </p:cNvSpPr>
          <p:nvPr/>
        </p:nvSpPr>
        <p:spPr>
          <a:xfrm>
            <a:off x="62484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5C99C7C-C955-49F7-BFCC-AFC57A2D471A}"/>
              </a:ext>
            </a:extLst>
          </p:cNvPr>
          <p:cNvSpPr>
            <a:spLocks noGrp="1"/>
          </p:cNvSpPr>
          <p:nvPr/>
        </p:nvSpPr>
        <p:spPr>
          <a:xfrm>
            <a:off x="62484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5A3B59A-99D3-4ACF-B114-B1BC798F4357}"/>
              </a:ext>
            </a:extLst>
          </p:cNvPr>
          <p:cNvSpPr>
            <a:spLocks noGrp="1"/>
          </p:cNvSpPr>
          <p:nvPr/>
        </p:nvSpPr>
        <p:spPr>
          <a:xfrm>
            <a:off x="62484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дата дохода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F1C917D-984E-4CA2-BE03-60F491438264}"/>
              </a:ext>
            </a:extLst>
          </p:cNvPr>
          <p:cNvSpPr>
            <a:spLocks noGrp="1"/>
          </p:cNvSpPr>
          <p:nvPr/>
        </p:nvSpPr>
        <p:spPr>
          <a:xfrm>
            <a:off x="90678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D49B6E1-039D-4008-840C-C1DD8D2FE6AB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3018C45-EBDE-447A-88A9-43462E17B95A}"/>
              </a:ext>
            </a:extLst>
          </p:cNvPr>
          <p:cNvSpPr>
            <a:spLocks noGrp="1"/>
          </p:cNvSpPr>
          <p:nvPr/>
        </p:nvSpPr>
        <p:spPr>
          <a:xfrm>
            <a:off x="90678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Дневной бюджет и объяснение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4FCE51A-A19A-4D0B-8CCA-62A661DE68E4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КАК ПРИХОДЯТ ДАННЫЕ БАНКА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9FF603B6-E420-4CCD-91C3-1D82D8F69DFF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Вход и токен   /   Счета и операции   /   Остатки   /   Пересчёт бюджета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CCD09CB0-41EF-4E79-A695-FBF5232BE18F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Опрос банка каждые 15 секунд. События SSE обновляют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C7B47C-7408-3FF4-156A-0CD3D73F732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1B322C-1D7B-CC04-7E36-B09048B74CF3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F17F71-6218-69E5-05B1-EEE247C1093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5A30F7-ED53-AC9D-34FB-4F6925F3C51C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A0A320-EE7E-94CD-926F-B635F41512FD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E5F157-ECEC-F3BA-AC01-B9A45577ED7E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1AE495-B83D-BFBA-9E32-137DCA2E4598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621DC9-3A43-2057-CB99-29031D4CE09F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7A7406-D636-75EE-DE77-4320E29C403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636A01-5FA0-1877-8CD7-B6A7B565A609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DA5A7F-18ED-1943-CD32-133FFAE3DEE0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2B505B-D50B-A589-5852-619B14C50AF8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0926D9-6D6C-524D-5CE5-D96A51C50F59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106AF4B-E091-8C73-1A44-61D7A70A6563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8C0B827-25E2-6D1F-51B5-73FF7751497F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ED21031-2AF0-1DA6-03A7-CC62A4EF8193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A49635-2F7F-234A-3BD4-33D753A0C9F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D0ABB53-38A5-8938-FDB5-649BFE76AC9D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9823465-39A0-6EBA-E640-7C673001CCF2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3237425-D3A1-C61B-2C53-5686F6837445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C3537D7-FA97-643C-A3AE-E34FA7EBECBD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03B2ECC-1484-BFE6-7B9D-11C1BC44AD5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361B713-DA77-10B9-A687-1D2648CDE3A3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B85CCA-6935-AD28-8D58-E6F058B59E3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CB25BFA-8EED-A1CC-B5FB-D93D589F08AA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990E04E-D57B-D175-BBB8-26F81DAA2C08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D6B8225-2A81-901A-AFE2-6C4934A03F7D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833F5E4-357F-260D-F5F4-7B17B46CCB3A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4775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</a:t>
            </a:r>
            <a:r>
              <a:rPr sz="3000" b="1" dirty="0">
                <a:solidFill>
                  <a:srgbClr val="121D4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прототип</a:t>
            </a:r>
            <a:endParaRPr sz="3000" b="1" dirty="0">
              <a:solidFill>
                <a:srgbClr val="121D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>
            <a:spLocks noGrp="1"/>
          </p:cNvSpPr>
          <p:nvPr/>
        </p:nvSpPr>
        <p:spPr>
          <a:xfrm>
            <a:off x="609599" y="1320800"/>
            <a:ext cx="7072745" cy="444500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5875">
            <a:solidFill>
              <a:srgbClr val="9FB3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>
            <a:spLocks noGrp="1"/>
          </p:cNvSpPr>
          <p:nvPr/>
        </p:nvSpPr>
        <p:spPr>
          <a:xfrm>
            <a:off x="7924800" y="1320800"/>
            <a:ext cx="3657600" cy="444500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>
            <a:spLocks noGrp="1"/>
          </p:cNvSpPr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2400">
                <a:solidFill>
                  <a:srgbClr val="7FE3C4"/>
                </a:solidFill>
                <a:latin typeface="Arial Black"/>
                <a:ea typeface="Arial Black"/>
                <a:cs typeface="Arial Black"/>
              </a:rPr>
              <a:t>MVP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>
            <a:spLocks noGrp="1"/>
          </p:cNvSpPr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>
            <a:spLocks noGrp="1"/>
          </p:cNvSpPr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Импорт, аналитика, бюджет и обновления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>
            <a:spLocks noGrp="1"/>
          </p:cNvSpPr>
          <p:nvPr/>
        </p:nvSpPr>
        <p:spPr>
          <a:xfrm>
            <a:off x="8229600" y="3378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>
            <a:spLocks noGrp="1"/>
          </p:cNvSpPr>
          <p:nvPr/>
        </p:nvSpPr>
        <p:spPr>
          <a:xfrm>
            <a:off x="8229600" y="3606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Покупку на 12 000 ₽ и изменение лимита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>
            <a:spLocks noGrp="1"/>
          </p:cNvSpPr>
          <p:nvPr/>
        </p:nvSpPr>
        <p:spPr>
          <a:xfrm>
            <a:off x="8229600" y="4521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СЦЕНАРИЙ ВЖИВУЮ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>
            <a:spLocks noGrp="1"/>
          </p:cNvSpPr>
          <p:nvPr/>
        </p:nvSpPr>
        <p:spPr>
          <a:xfrm>
            <a:off x="8229600" y="4749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Две вкладки: лаборатория и обзор</a:t>
            </a:r>
          </a:p>
        </p:txBody>
      </p:sp>
      <p:pic>
        <p:nvPicPr>
          <p:cNvPr id="90" name="Рисунок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168" y="1514475"/>
            <a:ext cx="6854413" cy="3857625"/>
          </a:xfrm>
          <a:prstGeom prst="rect">
            <a:avLst/>
          </a:prstGeom>
        </p:spPr>
      </p:pic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7B4ACB6-44CC-4DD1-AC26-2A04D703C32C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Скриншот работающего приложения на синтетических данных симулятора</a:t>
            </a:r>
          </a:p>
        </p:txBody>
      </p:sp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rPr>
              <a:t>Альтернативы и фокус finly</a:t>
            </a:r>
          </a:p>
        </p:txBody>
      </p:sp>
      <p:graphicFrame>
        <p:nvGraphicFramePr>
          <p:cNvPr id="68" name="Таблица 67"/>
          <p:cNvGraphicFramePr/>
          <p:nvPr/>
        </p:nvGraphicFramePr>
        <p:xfrm>
          <a:off x="609600" y="1790700"/>
          <a:ext cx="10972800" cy="33718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9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Возможности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фокус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Дзен-мани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и планирование бюджета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Студенческий сценарий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до следующего поступления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CoinKeeper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расходов и лимиты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по категориям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Реакция дневного бюджета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новую операцию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finly MVP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Выписки, учебный банк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и расчёт бюджета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 востребованность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студенческой аудитории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A7E8265-9AA8-4721-BC42-B8579E059FA7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Гипотеза отличия: удобство сценария для студента со смешанным доходом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65AD417-0E82-4721-B9F0-A2DD62CBCE4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Преимущество и готовность платить ещё предстоит проверить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CF34C2-D1B4-9836-CF8A-D877CA27575F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3DB0D1-4317-1EB8-9D87-AA8E74AECE58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03C2C8-B464-ABE3-3804-7E306DB4D80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689A18-A8BD-5F85-C350-770D38DFDF60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75A7A9-BA9F-7300-AC15-2AE5737F3D5D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7ED531-5407-5F75-B6FD-A9455442BE61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74FF39-FE56-18EC-28B5-4A1900D72D42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CCCBF7B-A2D3-B372-2F50-2A8E5AA9F88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9DA643B-33CB-EA2F-7E8D-5B8EC797D4FF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453158D-4AA3-0E95-5889-07E88E0860BD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75B89D-0A53-190A-B764-C34C241C04DB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740332-4E8D-6217-99D2-C72C1101A4B4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95514AB-DA45-AC4B-83BB-7049037B300D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9D1794-E6EA-BE16-F559-20DC4F68D37C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B048D5-3BB3-F546-4FD5-EFD68169E17D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655959D-B556-8E3A-EAE1-26441E39BCE0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1CA9D4B-4C85-A36B-6140-D126A6E36C94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82C7C1B-F4AE-5BE5-E24D-BE1A71D88E57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6D0FE89-E0A7-D1DF-6CFC-40163D230113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2D1D948-A0B7-7356-2057-716CAD2BC2A2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FBD34DD-523E-1972-4FC0-96A2D5C1D3E5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AE3E6BB-ED01-DA81-D7C3-1CFB4FB5AA82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6E3A25-CE80-CA94-B735-114B17376867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44B231D-2F79-EEC3-FDF0-4B5CBE08CD90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F791778-8DF6-41F9-3372-1DE070DAC782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C474C6F-85D8-C3A1-5B65-AC3470692380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556F8C2-7A93-3C60-6261-A119BA05B2D0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7695848-2C3B-5FDC-EA20-A1BF5BF9EB7D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Развитие проекта</a:t>
            </a: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986C90C-CA47-46C7-9E77-8C12CFDD4930}"/>
              </a:ext>
            </a:extLst>
          </p:cNvPr>
          <p:cNvSpPr>
            <a:spLocks noGrp="1"/>
          </p:cNvSpPr>
          <p:nvPr/>
        </p:nv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>
            <a:spLocks noGrp="1"/>
          </p:cNvSpPr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>
            <a:spLocks noGrp="1"/>
          </p:cNvSpPr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01 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>
            <a:spLocks noGrp="1"/>
          </p:cNvSpPr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 MVP</a:t>
            </a:r>
            <a:endParaRPr b="1">
              <a:solidFill>
                <a:srgbClr val="0F1B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>
            <a:spLocks noGrp="1"/>
          </p:cNvSpPr>
          <p:nvPr/>
        </p:nvSpPr>
        <p:spPr>
          <a:xfrm>
            <a:off x="88900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Импорт выписок, учебный банк, бюджет, события и объяснения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>
            <a:spLocks noGrp="1"/>
          </p:cNvSpPr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>
            <a:spLocks noGrp="1"/>
          </p:cNvSpPr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>
            <a:spLocks noGrp="1"/>
          </p:cNvSpPr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02 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>
            <a:spLocks noGrp="1"/>
          </p:cNvSpPr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Пилот со студентами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>
            <a:spLocks noGrp="1"/>
          </p:cNvSpPr>
          <p:nvPr/>
        </p:nvSpPr>
        <p:spPr>
          <a:xfrm>
            <a:off x="461391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Проверить понятность лимита, повторное использование и готовность платить за автоматизацию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>
            <a:spLocks noGrp="1"/>
          </p:cNvSpPr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>
            <a:spLocks noGrp="1"/>
          </p:cNvSpPr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>
            <a:spLocks noGrp="1"/>
          </p:cNvSpPr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03  ПОСЛЕ ПРОВЕРКИ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>
            <a:spLocks noGrp="1"/>
          </p:cNvSpPr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Партнёрства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>
            <a:spLocks noGrp="1"/>
          </p:cNvSpPr>
          <p:nvPr/>
        </p:nvSpPr>
        <p:spPr>
          <a:xfrm>
            <a:off x="833882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Обсудить интеграции с банками и вузами. Доработать авторизацию и защиту данных.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477500" cy="33337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Следующие этапы зависят от результатов пилота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732D9E7-C658-4F5A-AAA9-4264B472F06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53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Модель дохода для проверки: Free с импортом, Pro с автоматизацией. Оплата в MVP не подключена.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/>
          <p:nvPr/>
        </p:nvSpPr>
        <p:spPr>
          <a:xfrm>
            <a:off x="6096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в симуляторе</a:t>
            </a:r>
          </a:p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пересчёт дневного бюджета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62484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 понимает, сколько может потратить сегодня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https://github.com/euphoria-pixel/finly</a:t>
            </a:r>
            <a:endParaRPr lang="ru-RU" sz="15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441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@Druidsova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Рыбы </a:t>
            </a:r>
            <a:r>
              <a:rPr lang="ru-RU" sz="1500" b="1" dirty="0" err="1">
                <a:solidFill>
                  <a:srgbClr val="FFFFFF"/>
                </a:solidFill>
                <a:latin typeface="Arial" panose="020B0604020202020204" pitchFamily="34" charset="0"/>
              </a:rPr>
              <a:t>дипсика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360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1364</Words>
  <Application>Microsoft Office PowerPoint</Application>
  <DocSecurity>0</DocSecurity>
  <PresentationFormat>Широкоэкранный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Чепиков</cp:lastModifiedBy>
  <cp:revision>2</cp:revision>
  <dcterms:created xsi:type="dcterms:W3CDTF">2026-09-27T03:13:35Z</dcterms:created>
  <dcterms:modified xsi:type="dcterms:W3CDTF">2026-09-27T04:03:45Z</dcterms:modified>
</cp:coreProperties>
</file>