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fade1121fa4be2" /><Relationship Type="http://schemas.openxmlformats.org/officeDocument/2006/relationships/extended-properties" Target="/docProps/app.xml" Id="Rc0eca6e2a96e4fad" /><Relationship Type="http://schemas.openxmlformats.org/officeDocument/2006/relationships/officeDocument" Target="/ppt/presentation.xml" Id="R0c49d2fa9afb46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484237a8d94b81"/>
  </p:sldMasterIdLst>
  <p:notesMasterIdLst>
    <p:notesMasterId xmlns:r="http://schemas.openxmlformats.org/officeDocument/2006/relationships" r:id="R55c4e76372154586"/>
  </p:notesMasterIdLst>
  <p:sldIdLst>
    <p:sldId xmlns:r="http://schemas.openxmlformats.org/officeDocument/2006/relationships" id="256" r:id="Re1a45f106d144e19"/>
    <p:sldId xmlns:r="http://schemas.openxmlformats.org/officeDocument/2006/relationships" id="257" r:id="Rba01851ab92947f0"/>
    <p:sldId xmlns:r="http://schemas.openxmlformats.org/officeDocument/2006/relationships" id="258" r:id="Raf1b5c6e0ca14226"/>
    <p:sldId xmlns:r="http://schemas.openxmlformats.org/officeDocument/2006/relationships" id="259" r:id="R4159dd5d226443fe"/>
    <p:sldId xmlns:r="http://schemas.openxmlformats.org/officeDocument/2006/relationships" id="260" r:id="R712ffbe0e8d248e0"/>
    <p:sldId xmlns:r="http://schemas.openxmlformats.org/officeDocument/2006/relationships" id="261" r:id="R676d6b6a5bb04dd4"/>
    <p:sldId xmlns:r="http://schemas.openxmlformats.org/officeDocument/2006/relationships" id="262" r:id="R4cd62b615b8a4681"/>
    <p:sldId xmlns:r="http://schemas.openxmlformats.org/officeDocument/2006/relationships" id="263" r:id="R40a751e63ef34513"/>
    <p:sldId xmlns:r="http://schemas.openxmlformats.org/officeDocument/2006/relationships" id="264" r:id="Ra4ec578140b9404e"/>
    <p:sldId xmlns:r="http://schemas.openxmlformats.org/officeDocument/2006/relationships" id="265" r:id="Rceacaf7259e042d3"/>
    <p:sldId xmlns:r="http://schemas.openxmlformats.org/officeDocument/2006/relationships" id="266" r:id="Rff0da1db3bff4f9b"/>
    <p:sldId xmlns:r="http://schemas.openxmlformats.org/officeDocument/2006/relationships" id="267" r:id="Rdc8a369d3ea14fef"/>
    <p:sldId xmlns:r="http://schemas.openxmlformats.org/officeDocument/2006/relationships" id="268" r:id="R7c64997140fd47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b14cfbee2b4393" /><Relationship Type="http://schemas.openxmlformats.org/officeDocument/2006/relationships/slideMaster" Target="/ppt/slideMasters/slideMaster1.xml" Id="R71484237a8d94b81" /><Relationship Type="http://schemas.openxmlformats.org/officeDocument/2006/relationships/notesMaster" Target="/ppt/notesMasters/notesMaster1.xml" Id="R55c4e76372154586" /><Relationship Type="http://schemas.openxmlformats.org/officeDocument/2006/relationships/presProps" Target="/ppt/presProps.xml" Id="Rc23bcbdc3c6c4611" /><Relationship Type="http://schemas.openxmlformats.org/officeDocument/2006/relationships/viewProps" Target="/ppt/viewProps.xml" Id="R4dc1e539e648459d" /><Relationship Type="http://schemas.openxmlformats.org/officeDocument/2006/relationships/tableStyles" Target="/ppt/tableStyles.xml" Id="R0ee1819f8c824398" /><Relationship Type="http://schemas.openxmlformats.org/officeDocument/2006/relationships/slide" Target="/ppt/slides/slide1.xml" Id="Re1a45f106d144e19" /><Relationship Type="http://schemas.openxmlformats.org/officeDocument/2006/relationships/slide" Target="/ppt/slides/slide2.xml" Id="Rba01851ab92947f0" /><Relationship Type="http://schemas.openxmlformats.org/officeDocument/2006/relationships/slide" Target="/ppt/slides/slide3.xml" Id="Raf1b5c6e0ca14226" /><Relationship Type="http://schemas.openxmlformats.org/officeDocument/2006/relationships/slide" Target="/ppt/slides/slide4.xml" Id="R4159dd5d226443fe" /><Relationship Type="http://schemas.openxmlformats.org/officeDocument/2006/relationships/slide" Target="/ppt/slides/slide5.xml" Id="R712ffbe0e8d248e0" /><Relationship Type="http://schemas.openxmlformats.org/officeDocument/2006/relationships/slide" Target="/ppt/slides/slide6.xml" Id="R676d6b6a5bb04dd4" /><Relationship Type="http://schemas.openxmlformats.org/officeDocument/2006/relationships/slide" Target="/ppt/slides/slide7.xml" Id="R4cd62b615b8a4681" /><Relationship Type="http://schemas.openxmlformats.org/officeDocument/2006/relationships/slide" Target="/ppt/slides/slide8.xml" Id="R40a751e63ef34513" /><Relationship Type="http://schemas.openxmlformats.org/officeDocument/2006/relationships/slide" Target="/ppt/slides/slide9.xml" Id="Ra4ec578140b9404e" /><Relationship Type="http://schemas.openxmlformats.org/officeDocument/2006/relationships/slide" Target="/ppt/slides/slide10.xml" Id="Rceacaf7259e042d3" /><Relationship Type="http://schemas.openxmlformats.org/officeDocument/2006/relationships/slide" Target="/ppt/slides/slide11.xml" Id="Rff0da1db3bff4f9b" /><Relationship Type="http://schemas.openxmlformats.org/officeDocument/2006/relationships/slide" Target="/ppt/slides/slide12.xml" Id="Rdc8a369d3ea14fef" /><Relationship Type="http://schemas.openxmlformats.org/officeDocument/2006/relationships/slide" Target="/ppt/slides/slide13.xml" Id="R7c64997140fd47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ba9811361d4c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1cbd36eb2438b" /><Relationship Type="http://schemas.openxmlformats.org/officeDocument/2006/relationships/notesMaster" Target="/ppt/notesMasters/notesMaster1.xml" Id="Rbc70e8f4fe0b4c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35592baa0e4ac2" /><Relationship Type="http://schemas.openxmlformats.org/officeDocument/2006/relationships/notesMaster" Target="/ppt/notesMasters/notesMaster1.xml" Id="R8bb0da001d254b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bec2c0f2454eb0" /><Relationship Type="http://schemas.openxmlformats.org/officeDocument/2006/relationships/notesMaster" Target="/ppt/notesMasters/notesMaster1.xml" Id="R582ad511703140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68257c3bad477d" /><Relationship Type="http://schemas.openxmlformats.org/officeDocument/2006/relationships/notesMaster" Target="/ppt/notesMasters/notesMaster1.xml" Id="R20474fab92a44e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d470fb7f8a403b" /><Relationship Type="http://schemas.openxmlformats.org/officeDocument/2006/relationships/notesMaster" Target="/ppt/notesMasters/notesMaster1.xml" Id="R1642e5843b374d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dc9bee81404450" /><Relationship Type="http://schemas.openxmlformats.org/officeDocument/2006/relationships/notesMaster" Target="/ppt/notesMasters/notesMaster1.xml" Id="R3a2bae0b6edb41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2f2c968d034e61" /><Relationship Type="http://schemas.openxmlformats.org/officeDocument/2006/relationships/notesMaster" Target="/ppt/notesMasters/notesMaster1.xml" Id="Rd60c8a8ac91648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fcfcbf11b84429" /><Relationship Type="http://schemas.openxmlformats.org/officeDocument/2006/relationships/notesMaster" Target="/ppt/notesMasters/notesMaster1.xml" Id="R13c27db281d94e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357bf4eb3b4580" /><Relationship Type="http://schemas.openxmlformats.org/officeDocument/2006/relationships/notesMaster" Target="/ppt/notesMasters/notesMaster1.xml" Id="Rf73cde4699bf4d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b73fb8c9d842b1" /><Relationship Type="http://schemas.openxmlformats.org/officeDocument/2006/relationships/notesMaster" Target="/ppt/notesMasters/notesMaster1.xml" Id="Rde2cb2b61ac34d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5961b90b51488c" /><Relationship Type="http://schemas.openxmlformats.org/officeDocument/2006/relationships/notesMaster" Target="/ppt/notesMasters/notesMaster1.xml" Id="Re3936ca32b8b4f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1ba403845f4485" /><Relationship Type="http://schemas.openxmlformats.org/officeDocument/2006/relationships/notesMaster" Target="/ppt/notesMasters/notesMaster1.xml" Id="Rb4be71942fc44f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9580d07bc647d9" /><Relationship Type="http://schemas.openxmlformats.org/officeDocument/2006/relationships/notesMaster" Target="/ppt/notesMasters/notesMaster1.xml" Id="R361b78df9c0645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Максим, 15 секунд. Представляем finly, финансового помощника для студента. Главный вопрос продукта: сколько можно потратить сегодня, чтобы денег хватило до следующего поступления. Команда «Рыбы дипсика».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Максим, 10 секунд. В команде распределены продукт и системный анализ, серверная архитектура, интерфейс и дизайн.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Максим, 25 секунд. Проблема проекта: распределить имеющиеся деньги до следующего поступления при смешанном доходе. Описываем продуктовую гипотезу, а не результаты проведённых интервью. Источник: предоставленный командой Word-документ.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Максим, 20 секунд. Наш стартовый сегмент — студенты со стипендией и подработкой. Проверка востребованности и готовности платить — следующий этап. Оценка 2–2,5 млн из исходных материалов не используется как доказанный размер рынка.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Максим, 25 секунд. Начать можно с импорта выписки. CSV разбирает локальный сервер. Для PDF пользователь проверяет очищенный текст и разрешает обработку моделью. До подтверждения строки не попадают в историю операций.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Пётр, 25 секунд. Это арифметический пример, а не измеренный результат пользователей. Из остатка вычитаем платежи и резерв, делим на дни. Холды тоже уменьшают доступный бюджет. Пользовательский лимит может ограничить результат. Расчёты в backend/budget.py.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Павел, 20 секунд. Эти возможности реализованы в локальном MVP. Интерфейс на Next.js и React, backend на FastAPI, база приложения SQLite. Источники: backend/app.py, frontend/finly/App.tsx.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Пётр, 25 секунд. Ключевой сценарий — реакция бюджета на конкретную покупку. SSE доставляет событие в браузер, затем интерфейс запрашивает свежий снимок. Модель выбирает разделы объяснения, а суммы подставляет сервер. Это фокус продукта, без заявления об отсутствии аналогов.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Пётр, 30 секунд. POST /auth/login получает токен. GET /accounts возвращает счета. По каждому счёту запрашиваются /transactions и /balances. Повторная синхронизация не дублирует историю. Банк опрашиваем по HTTP, браузеру отправляем SSE. Покупки лаборатории создаются в отдельном симуляторе, а не в банке. Источник: backend/bank_in_a_box.py, backend/app.py.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Павел, 90 секунд на живую демонстрацию. Открыть обзор и лабораторию в двух вкладках с источником «Учебный банк + симулятор». Запомнить остаток, создать проведённый расход 12 000 ₽, показать изменение бюджета без перезагрузки. Уведомления зависят от настроек и порогов. При сбое показать этот скриншот и CSV-импорт. Скриншот: локальный finly, синтетический профиль, 27 сентября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Максим, 25 секунд. У существующих приложений уже есть планирование. Мы проверяем более узкий сценарий студентов со смешанным доходом. Не заявляем отсутствие аналогов. Источники возможностей: https://support.zenmoney.ru/knowledge-bases/2-baza-znanij/categories/55-planirovanie-byudzheta/articles ; https://about.coinkeeper.me/24674569 . Проверено 27 сентября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Максим, 25 секунд. Ближайший шаг — пилот со студентами. Смотрим на понятность бюджета и повторное использование, затем проверяем готовность платить. Банковские и вузовские партнёрства — гипотеза развития, а не заключённые соглашения.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Максим, 15 секунд. finly даёт студенту понятный ориентир на каждый день. Готовы показать детали прототипа и ответить на вопросы.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be31a77a94d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951a6f3dd47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2d6d27ae04e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67a943cb34d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7a5246a1341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57b208479472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13b56020944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9dd93e24843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37d15b51848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155170ab041c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750063f5440af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06E305C-18B6-7E00-3B5D-A4FD0D06C9A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42567583-AC7F-98D2-866C-56CEA1BDE5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BC8F5614-181C-D044-02A3-C2BE391655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4B3438E-1A34-46F5-B5CF-CCFE10C1B9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EE0F89-3AB9-30E1-49AF-A37AD193D6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CBAF1F4-A727-1C45-3B64-D40802C4F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8BBFB0E-D223-5021-7775-B006BB9269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3AE310-4CBE-724F-F786-AFD12F4792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14E3C85-665C-510D-FA28-E4B1949A19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6297710-875B-5061-3DDC-527448E564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99BDE8B-1CF8-6BF9-81A7-A98112EF8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7E7ED05F-8929-018E-1DFC-8FC8C61610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C4ED77BE-700E-356E-599B-56B30D73B2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C8E8FD8-C893-DB9C-650A-729979AE41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7AC8EA9-06C3-BDF8-7C42-3A49F8F3F5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1964489-B1A9-984F-074F-CD844153EE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458CCCDE-942A-455B-AF3D-6D027939E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60DAAEFF-656C-3263-2290-96E0D8DB50A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CBFDB474-6751-96FB-52B3-0F30EB1502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76BA0C64-CFD4-D141-4E51-E2AD453B12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5648D041-DF94-D082-DF7A-8890505337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677F3EC-2FC5-AA48-B1B4-86D8832BC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758B901E-AE9A-667A-03F5-3F881849CB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3E52DC7F-30EC-2966-0C3A-013BD15ABE3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EC5E9BA-6252-95BE-0B0D-6C0B8A11E43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D0860277-2100-397C-9821-49B2EDFF057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CB2A468C-875F-4445-CB92-93A9296705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0B0284B1-DF17-BB89-334E-CD3815CBE5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B5B94957-FC2C-8A8D-9561-D86254A37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C5A095E-D55B-3424-6D58-6A04A90A6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74CE2FAD-FFDB-59AD-95FB-673BBD1ED3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CAFBB7B6-BDB8-0C68-B7DA-4562801938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4B1CD6F6-D65F-43A5-8E83-B7B84900C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DA66D885-A56B-0B8B-C537-662C8EC06B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D462A9FC-7FA6-FECC-D4BD-DD4A95139A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8C0BA402-5960-35FE-A898-2C3623A1F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C7C581E-E972-4CCC-EF47-471611398E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B0A25741-3055-87B6-956C-115D21104B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D00B337-1B33-624C-0E4A-5BB23AFB62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BDC2ACF9-496B-0B21-49CE-7C566465A5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0C30CF12-914A-D04D-0AC6-A9E84E0466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71A7594E-72A1-F2CF-8275-BF139E78B9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5C87DF0-048F-0D16-4709-A8D940E7D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8D9414BD-694D-B821-A34F-71AEFBFD285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EDDE5889-E568-6880-64F2-5C40A6A319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A8BF94E9-9729-16D2-8892-0D74303A1A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41D26B6D-45C5-ECC3-1199-02EE20FB5F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5F08D26A-46BE-8496-502C-8496B7FD4E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3C5B07F-A3B3-1C9E-5EA5-D764027417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A1A48EA8-1667-66BD-F0CE-3F90725FB5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A9C5788-BB16-A6B5-9F93-B9857008D1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9198970-53E1-C079-427C-7C526192D0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96CA188-641D-343D-15B2-1F0FF643A4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CF97BBB-BFAE-CBF1-8528-70CC1782D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A296A28C-B17B-E607-8E6D-4937AE9BAC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3557172C-4C47-3DA4-5914-59386D34E4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13B242A-AE74-A0C6-0442-C69E6062D4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5B74E61-0930-1A81-60FF-6D9D04251B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8a771b51824991" /><Relationship Type="http://schemas.openxmlformats.org/officeDocument/2006/relationships/slideLayout" Target="/ppt/slideLayouts/slideLayout1.xml" Id="R8275645809a94303" /><Relationship Type="http://schemas.openxmlformats.org/officeDocument/2006/relationships/slideLayout" Target="/ppt/slideLayouts/slideLayout2.xml" Id="Red13bf5af66f434c" /><Relationship Type="http://schemas.openxmlformats.org/officeDocument/2006/relationships/slideLayout" Target="/ppt/slideLayouts/slideLayout3.xml" Id="R5e1f35bef4444188" /><Relationship Type="http://schemas.openxmlformats.org/officeDocument/2006/relationships/slideLayout" Target="/ppt/slideLayouts/slideLayout4.xml" Id="R71715837f70c41c3" /><Relationship Type="http://schemas.openxmlformats.org/officeDocument/2006/relationships/slideLayout" Target="/ppt/slideLayouts/slideLayout5.xml" Id="R7ca67e09f78d4bf4" /><Relationship Type="http://schemas.openxmlformats.org/officeDocument/2006/relationships/slideLayout" Target="/ppt/slideLayouts/slideLayout6.xml" Id="R51dad693216042af" /><Relationship Type="http://schemas.openxmlformats.org/officeDocument/2006/relationships/slideLayout" Target="/ppt/slideLayouts/slideLayout7.xml" Id="R22ec6f2ac8e74151" /><Relationship Type="http://schemas.openxmlformats.org/officeDocument/2006/relationships/slideLayout" Target="/ppt/slideLayouts/slideLayout8.xml" Id="R00f0c52454c74086" /><Relationship Type="http://schemas.openxmlformats.org/officeDocument/2006/relationships/slideLayout" Target="/ppt/slideLayouts/slideLayout9.xml" Id="R2003c2e2148e4552" /><Relationship Type="http://schemas.openxmlformats.org/officeDocument/2006/relationships/slideLayout" Target="/ppt/slideLayouts/slideLayout10.xml" Id="R9e03d16601424791" /><Relationship Type="http://schemas.openxmlformats.org/officeDocument/2006/relationships/slideLayout" Target="/ppt/slideLayouts/slideLayout11.xml" Id="Rb06ad381c45c43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9642B20-BE31-AF6C-2C9D-614456C52D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676613A3-0AD0-0F08-6A40-91ACF78FCC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58333F3-AE5F-A7E2-C8CA-3A7F18E62C4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687069C-5EB7-4872-A081-BE07F9D48B53}" type="datetimeFigureOut">
              <a:t>27.09.2026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A468CFE-C60D-CE22-031D-506F1959A2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5C6BCC1-C359-0165-F531-CA225DA1743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1D1FC60-0A4C-4A19-8ADA-B8EF6A73481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75645809a94303"/>
    <p:sldLayoutId xmlns:r="http://schemas.openxmlformats.org/officeDocument/2006/relationships" id="2147483650" r:id="Red13bf5af66f434c"/>
    <p:sldLayoutId xmlns:r="http://schemas.openxmlformats.org/officeDocument/2006/relationships" id="2147483651" r:id="R5e1f35bef4444188"/>
    <p:sldLayoutId xmlns:r="http://schemas.openxmlformats.org/officeDocument/2006/relationships" id="2147483652" r:id="R71715837f70c41c3"/>
    <p:sldLayoutId xmlns:r="http://schemas.openxmlformats.org/officeDocument/2006/relationships" id="2147483653" r:id="R7ca67e09f78d4bf4"/>
    <p:sldLayoutId xmlns:r="http://schemas.openxmlformats.org/officeDocument/2006/relationships" id="2147483654" r:id="R51dad693216042af"/>
    <p:sldLayoutId xmlns:r="http://schemas.openxmlformats.org/officeDocument/2006/relationships" id="2147483655" r:id="R22ec6f2ac8e74151"/>
    <p:sldLayoutId xmlns:r="http://schemas.openxmlformats.org/officeDocument/2006/relationships" id="2147483656" r:id="R00f0c52454c74086"/>
    <p:sldLayoutId xmlns:r="http://schemas.openxmlformats.org/officeDocument/2006/relationships" id="2147483657" r:id="R2003c2e2148e4552"/>
    <p:sldLayoutId xmlns:r="http://schemas.openxmlformats.org/officeDocument/2006/relationships" id="2147483658" r:id="R9e03d16601424791"/>
    <p:sldLayoutId xmlns:r="http://schemas.openxmlformats.org/officeDocument/2006/relationships" id="2147483659" r:id="Rb06ad381c45c43c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5953ff59504269" /><Relationship Type="http://schemas.openxmlformats.org/officeDocument/2006/relationships/image" Target="/ppt/media/image.png" Id="R10db3e4050084fcb" /><Relationship Type="http://schemas.openxmlformats.org/officeDocument/2006/relationships/notesSlide" Target="/ppt/notesSlides/notesSlide1.xml" Id="R2d9125aed19743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a29c933710471e" /><Relationship Type="http://schemas.openxmlformats.org/officeDocument/2006/relationships/image" Target="/ppt/media/image.jpeg" Id="R56ce5f2701964c3e" /><Relationship Type="http://schemas.openxmlformats.org/officeDocument/2006/relationships/notesSlide" Target="/ppt/notesSlides/notesSlide2.xml" Id="Rc1cffb88c95641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1c4819ae5a4546" /><Relationship Type="http://schemas.openxmlformats.org/officeDocument/2006/relationships/notesSlide" Target="/ppt/notesSlides/notesSlide3.xml" Id="Rd5520ce6851343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b8e3a2266344e0" /><Relationship Type="http://schemas.openxmlformats.org/officeDocument/2006/relationships/notesSlide" Target="/ppt/notesSlides/notesSlide4.xml" Id="Red5075ecdcb141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2552dd387542a8" /><Relationship Type="http://schemas.openxmlformats.org/officeDocument/2006/relationships/notesSlide" Target="/ppt/notesSlides/notesSlide5.xml" Id="R738440e13bb34d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9c7c1a372347e0" /><Relationship Type="http://schemas.openxmlformats.org/officeDocument/2006/relationships/notesSlide" Target="/ppt/notesSlides/notesSlide6.xml" Id="Rb7619b156f9946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822a4ed4ea4264" /><Relationship Type="http://schemas.openxmlformats.org/officeDocument/2006/relationships/notesSlide" Target="/ppt/notesSlides/notesSlide7.xml" Id="Raf6f7f5ecbe448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81b39d639e4a34" /><Relationship Type="http://schemas.openxmlformats.org/officeDocument/2006/relationships/notesSlide" Target="/ppt/notesSlides/notesSlide8.xml" Id="R8056b7d6e66747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01f8d30a63491b" /><Relationship Type="http://schemas.openxmlformats.org/officeDocument/2006/relationships/notesSlide" Target="/ppt/notesSlides/notesSlide9.xml" Id="Rba551cb978df48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6973d4b7149a4" /><Relationship Type="http://schemas.openxmlformats.org/officeDocument/2006/relationships/image" Target="/ppt/media/image2.jpeg" Id="R2c548543adab4608" /><Relationship Type="http://schemas.openxmlformats.org/officeDocument/2006/relationships/notesSlide" Target="/ppt/notesSlides/notesSlide10.xml" Id="R88e232c7112244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02f1704b94b41" /><Relationship Type="http://schemas.openxmlformats.org/officeDocument/2006/relationships/notesSlide" Target="/ppt/notesSlides/notesSlide11.xml" Id="R928bd5067fa84c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f69a97ccd44b30" /><Relationship Type="http://schemas.openxmlformats.org/officeDocument/2006/relationships/notesSlide" Target="/ppt/notesSlides/notesSlide12.xml" Id="Rbd8249e78b864c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46e902f8d04fc8" /><Relationship Type="http://schemas.openxmlformats.org/officeDocument/2006/relationships/image" Target="/ppt/media/image.png" Id="R3859980414d14f74" /><Relationship Type="http://schemas.openxmlformats.org/officeDocument/2006/relationships/notesSlide" Target="/ppt/notesSlides/notesSlide13.xml" Id="Rc6a76d7ab20849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ackground">
            <a:extLst xmlns:a="http://schemas.openxmlformats.org/drawingml/2006/main">
              <a:ext uri="{FF2B5EF4-FFF2-40B4-BE49-F238E27FC236}">
                <a16:creationId xmlns:a16="http://schemas.microsoft.com/office/drawing/2014/main" id="{DD798558-6B15-7D10-CE66-4697C62B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FA1CEAC-814B-AF91-570B-D6766736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10800" y="19050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EF8E8D76-80CE-C3B5-1EFA-6CD447A9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99700" y="19050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F1245EAC-1941-3FE8-01CE-EEF60353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8600" y="19050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8189630-6144-42B0-36A7-1C181D09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44200" y="19050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F6D51848-8B4A-B5CA-F151-8F111685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3100" y="19050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D61E5F4B-1594-8BA9-2D71-5DFCDC77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2000" y="19050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D17ABEF9-5953-E769-13F2-FF8A50CF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1900" y="19939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91D3610A-31F2-1B47-FA1A-77F0A6E7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77500" y="19939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F5216EC-6B81-6A80-90E1-27667758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5300" y="19939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AC3D8D8D-2945-51A5-2238-627FEB5F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10900" y="19939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682430AD-E22B-DBDA-1796-B8C685A4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3000" y="20828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5CCEE16-614A-B946-A381-0F431296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400" y="20828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0AEABE84-F213-036B-9222-E3AFE7C3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9800" y="20828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BC178A37-7D81-B3EF-5F22-32422BBF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3000" y="21717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5776D77-A9A4-12C6-265B-2BE2BC40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9800" y="21717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39AD5CC5-4D2A-2B92-CF1D-C9526433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3000" y="22606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0C586510-8E90-5384-640D-AA17F0AF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9800" y="22606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FBD3A775-A60D-3972-6324-973BF975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1900" y="23495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9A4F7047-8026-440B-AE25-068CDC3D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10900" y="23495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18627609-2196-C575-F0E6-950DF9B3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10800" y="24384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613F1720-BEB7-0D69-8F1A-2343373A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2000" y="24384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B7DFA7CC-29DC-91CF-20D2-1EF249E7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99700" y="25273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1348978D-58E8-3B0D-D3A6-E42FDD6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3100" y="25273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620EAE5D-5139-E7D8-4C97-37F3B861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8600" y="26162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8B5957FB-B83B-C9C8-8841-1EAF6C33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44200" y="26162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2CF85DA6-1D02-21D4-CD83-78005CA4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77500" y="27051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B43689A6-AB4E-27C1-E472-0307F5FA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5300" y="27051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Прямоугольник 31">
            <a:extLst xmlns:a="http://schemas.openxmlformats.org/drawingml/2006/main">
              <a:ext uri="{FF2B5EF4-FFF2-40B4-BE49-F238E27FC236}">
                <a16:creationId xmlns:a16="http://schemas.microsoft.com/office/drawing/2014/main" id="{8E3A6CD2-EBBE-ED52-926C-59C78F7B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400" y="2794000"/>
            <a:ext cx="889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28B6187-F359-586D-75C2-AA32D67C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5600"/>
            <a:ext cx="762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 spc="25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 xmlns:a="http://schemas.openxmlformats.org/drawingml/2006/main">
              <a:ext uri="{FF2B5EF4-FFF2-40B4-BE49-F238E27FC236}">
                <a16:creationId xmlns:a16="http://schemas.microsoft.com/office/drawing/2014/main" id="{972CC023-D9A1-9F97-7CFF-6F148DC3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0400"/>
            <a:ext cx="3810000" cy="355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rgbClr val="FFFFFF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3051C4D-C2D3-218E-5D63-67C041D0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9939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ACF0412-5BC6-90F9-C73E-BF2F45C3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889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4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Finly</a:t>
            </a:r>
          </a:p>
          <a:p xmlns:a="http://schemas.openxmlformats.org/drawingml/2006/main">
            <a:endParaRPr sz="440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657EA6F9-5630-AF1F-E9DA-3DF5F586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Показывает, сколько можно тратить в день до стипендии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33F9118C-15BA-1E8B-1E0A-45868046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4200"/>
            <a:ext cx="254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43B1BE7A-32D5-3014-AC78-9EADA83A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7400"/>
            <a:ext cx="317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Рыбы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дипсика</a:t>
            </a:r>
            <a:endParaRPr sz="15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664D589-E2BB-51D1-B6F4-D7B45B5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4394200"/>
            <a:ext cx="254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УЧАСТНИКИ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ECDCE6C-E0FC-A3CF-BC0F-EDD61BB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2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Максим Чепиков   /   Пётр Макаров   /   Павел Тагиров</a:t>
            </a:r>
          </a:p>
        </p:txBody>
      </p:sp>
      <p:sp>
        <p:nvSpPr>
          <p:cNvPr id="46" name="Прямая соединительная линия 45">
            <a:extLst xmlns:a="http://schemas.openxmlformats.org/drawingml/2006/main">
              <a:ext uri="{FF2B5EF4-FFF2-40B4-BE49-F238E27FC236}">
                <a16:creationId xmlns:a16="http://schemas.microsoft.com/office/drawing/2014/main" id="{7D32DCE5-60ED-4096-A828-F2314795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06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7" name="Рисунок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b3e4050084f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62832"/>
            <a:ext cx="10045700" cy="10463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02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02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45EBB56-357A-5B5B-EAE6-54DF4B36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78464650-57A5-6038-3C19-ABD35C70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C33F275-B5A6-CD84-C8D6-43722379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146BD27B-B30F-75D8-D038-BC482E3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F987744-83E3-17B7-5EEE-1E7DC335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2170354A-5759-6C04-3499-FF17F45A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0D939AC5-A903-76D1-630F-41B6111A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0E2B040C-3D7F-9BB7-77B0-0210652F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CDF23A4A-FF68-DBA0-96EE-84B0CD1B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8B2958C7-31FD-1CF5-A78B-6ECEB1F4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458F7045-378E-1F99-012A-CDF218F4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8A9FD4C9-8DBD-C8C7-5064-DC523830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088EEC14-237A-E305-4088-2E6873D9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6419D5A1-D3DB-DCE4-4122-CA0665D4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A57463D-7DAA-FFD4-FD1B-F7D83518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80A296D2-2543-8641-CC43-CBA2AB99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4A95BCB7-F087-60F3-5F9D-F619AAFC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E7C3DD72-1D87-E672-A3F1-E76FC174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53F78585-866D-0E02-FFDB-F256D11A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8F91DB89-B1E2-9D92-EC27-7BC49DDA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91382261-F42F-B719-73A8-CA774DFE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B207365F-4DAF-5588-DA13-5F816DC9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F33CFB26-3610-C0AB-C4D3-534D50F6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18F27330-18D8-4158-3E93-EA307EE2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225CCF48-A646-3FD2-154F-541E3C9D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D980ECCD-BAE5-E230-01FA-29A01E62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1F641627-78AE-C00B-8C2C-082FF507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22436800-F9A7-4F14-CA87-26B24A96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59130"/>
            <a:ext cx="1041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Команда</a:t>
            </a:r>
          </a:p>
        </p:txBody>
      </p:sp>
      <p:sp>
        <p:nvSpPr>
          <p:cNvPr id="5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D4D756AA-C837-B03F-4F45-BF44BECF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57700"/>
            <a:ext cx="3505200" cy="110490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ECB1428-3F87-359A-E284-AE69EBB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57700"/>
            <a:ext cx="3505200" cy="110490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F186326-B731-9168-F371-BF380466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505200" cy="110490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Box 17">
            <a:extLst xmlns:a="http://schemas.openxmlformats.org/drawingml/2006/main">
              <a:ext uri="{FF2B5EF4-FFF2-40B4-BE49-F238E27FC236}">
                <a16:creationId xmlns:a16="http://schemas.microsoft.com/office/drawing/2014/main" id="{5F034BC4-76BA-09E9-20D7-7FC49722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29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Макаров Пётр</a:t>
            </a:r>
            <a:endParaRPr sz="1500" b="1" i="0" u="none">
              <a:solidFill>
                <a:srgbClr val="0F172A"/>
              </a:solidFill>
              <a:latin typeface="Plus Jakarta Sans"/>
              <a:ea typeface="Plus Jakarta Sans"/>
              <a:cs typeface="Plus Jakarta Sans"/>
            </a:endParaRPr>
          </a:p>
        </p:txBody>
      </p:sp>
      <p:sp>
        <p:nvSpPr>
          <p:cNvPr id="57" name="TextBox 18">
            <a:extLst xmlns:a="http://schemas.openxmlformats.org/drawingml/2006/main">
              <a:ext uri="{FF2B5EF4-FFF2-40B4-BE49-F238E27FC236}">
                <a16:creationId xmlns:a16="http://schemas.microsoft.com/office/drawing/2014/main" id="{6D584166-3CBB-97ED-CA95-E93ABCCF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577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Backend и архитектура</a:t>
            </a:r>
            <a:endParaRPr sz="1200" b="0" i="0" u="none">
              <a:solidFill>
                <a:srgbClr val="64748B"/>
              </a:solidFill>
              <a:latin typeface="Plus Jakarta Sans"/>
              <a:ea typeface="Plus Jakarta Sans"/>
              <a:cs typeface="Plus Jakarta Sans"/>
            </a:endParaRPr>
          </a:p>
        </p:txBody>
      </p:sp>
      <p:sp>
        <p:nvSpPr>
          <p:cNvPr id="58" name="TextBox 19">
            <a:extLst xmlns:a="http://schemas.openxmlformats.org/drawingml/2006/main">
              <a:ext uri="{FF2B5EF4-FFF2-40B4-BE49-F238E27FC236}">
                <a16:creationId xmlns:a16="http://schemas.microsoft.com/office/drawing/2014/main" id="{2547A341-0057-E4A8-9CB2-B394F94E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75" b="1" i="0" u="none">
                <a:solidFill>
                  <a:srgbClr val="121D40"/>
                </a:solidFill>
                <a:latin typeface="Arial"/>
                <a:ea typeface="Arial"/>
                <a:cs typeface="Arial"/>
              </a:rPr>
              <a:t>Тагиров Павел</a:t>
            </a:r>
            <a:endParaRPr sz="1500" b="1" i="0" u="none">
              <a:solidFill>
                <a:srgbClr val="0F172A"/>
              </a:solidFill>
              <a:latin typeface="Plus Jakarta Sans"/>
              <a:ea typeface="Plus Jakarta Sans"/>
              <a:cs typeface="Plus Jakarta Sans"/>
            </a:endParaRPr>
          </a:p>
        </p:txBody>
      </p:sp>
      <p:sp>
        <p:nvSpPr>
          <p:cNvPr id="59" name="TextBox 20">
            <a:extLst xmlns:a="http://schemas.openxmlformats.org/drawingml/2006/main">
              <a:ext uri="{FF2B5EF4-FFF2-40B4-BE49-F238E27FC236}">
                <a16:creationId xmlns:a16="http://schemas.microsoft.com/office/drawing/2014/main" id="{18E4DAC3-B2BB-CDD6-97AF-BF7ED8CA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577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 i="0" u="none">
                <a:solidFill>
                  <a:srgbClr val="65789C"/>
                </a:solidFill>
                <a:latin typeface="Arial"/>
                <a:ea typeface="Arial"/>
                <a:cs typeface="Arial"/>
              </a:rPr>
              <a:t>Frontend и дизайн</a:t>
            </a:r>
            <a:endParaRPr sz="1200" b="0" i="0" u="none">
              <a:solidFill>
                <a:srgbClr val="64748B"/>
              </a:solidFill>
              <a:latin typeface="Plus Jakarta Sans"/>
              <a:ea typeface="Plus Jakarta Sans"/>
              <a:cs typeface="Plus Jakarta Sans"/>
            </a:endParaRPr>
          </a:p>
        </p:txBody>
      </p:sp>
      <p:sp>
        <p:nvSpPr>
          <p:cNvPr id="60" name="TextBox 23">
            <a:extLst xmlns:a="http://schemas.openxmlformats.org/drawingml/2006/main">
              <a:ext uri="{FF2B5EF4-FFF2-40B4-BE49-F238E27FC236}">
                <a16:creationId xmlns:a16="http://schemas.microsoft.com/office/drawing/2014/main" id="{5492D0FD-ADF4-6555-8BE1-1927DF97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75" b="1" i="0" u="none">
                <a:solidFill>
                  <a:srgbClr val="121D40"/>
                </a:solidFill>
                <a:latin typeface="Arial"/>
                <a:ea typeface="Arial"/>
                <a:cs typeface="Arial"/>
              </a:rPr>
              <a:t>Чепиков Максим</a:t>
            </a:r>
            <a:endParaRPr sz="1500" b="1" i="0" u="none">
              <a:solidFill>
                <a:srgbClr val="0F172A"/>
              </a:solidFill>
              <a:latin typeface="Plus Jakarta Sans"/>
              <a:ea typeface="Plus Jakarta Sans"/>
              <a:cs typeface="Plus Jakarta Sans"/>
            </a:endParaRPr>
          </a:p>
        </p:txBody>
      </p:sp>
      <p:sp>
        <p:nvSpPr>
          <p:cNvPr id="61" name="TextBox 24">
            <a:extLst xmlns:a="http://schemas.openxmlformats.org/drawingml/2006/main">
              <a:ext uri="{FF2B5EF4-FFF2-40B4-BE49-F238E27FC236}">
                <a16:creationId xmlns:a16="http://schemas.microsoft.com/office/drawing/2014/main" id="{0A2F35CE-A44C-382B-C9AC-C799AD41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 i="0" u="none">
                <a:solidFill>
                  <a:srgbClr val="65789C"/>
                </a:solidFill>
                <a:latin typeface="Arial"/>
                <a:ea typeface="Arial"/>
                <a:cs typeface="Arial"/>
              </a:rPr>
              <a:t>Продукт и системный анализ</a:t>
            </a:r>
          </a:p>
        </p:txBody>
      </p:sp>
      <p:pic>
        <p:nvPicPr>
          <p:cNvPr id="10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e5f2701964c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225" y="1619250"/>
            <a:ext cx="2628900" cy="2667000"/>
          </a:xfrm>
          <a:prstGeom xmlns:a="http://schemas.openxmlformats.org/drawingml/2006/main" prst="rect">
            <a:avLst/>
          </a:prstGeom>
        </p:spPr>
      </p:pic>
      <p:pic>
        <p:nvPicPr>
          <p:cNvPr id="10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e5f2701964c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2025" y="1619250"/>
            <a:ext cx="2628900" cy="2667000"/>
          </a:xfrm>
          <a:prstGeom xmlns:a="http://schemas.openxmlformats.org/drawingml/2006/main" prst="rect">
            <a:avLst/>
          </a:prstGeom>
        </p:spPr>
      </p:pic>
      <p:pic>
        <p:nvPicPr>
          <p:cNvPr id="10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e5f2701964c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5825" y="1619250"/>
            <a:ext cx="26289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70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03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45EBB56-357A-5B5B-EAE6-54DF4B36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78464650-57A5-6038-3C19-ABD35C70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C33F275-B5A6-CD84-C8D6-43722379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146BD27B-B30F-75D8-D038-BC482E3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F987744-83E3-17B7-5EEE-1E7DC335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2170354A-5759-6C04-3499-FF17F45A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0D939AC5-A903-76D1-630F-41B6111A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0E2B040C-3D7F-9BB7-77B0-0210652F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CDF23A4A-FF68-DBA0-96EE-84B0CD1B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8B2958C7-31FD-1CF5-A78B-6ECEB1F4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458F7045-378E-1F99-012A-CDF218F4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8A9FD4C9-8DBD-C8C7-5064-DC523830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088EEC14-237A-E305-4088-2E6873D9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6419D5A1-D3DB-DCE4-4122-CA0665D4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A57463D-7DAA-FFD4-FD1B-F7D83518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80A296D2-2543-8641-CC43-CBA2AB99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4A95BCB7-F087-60F3-5F9D-F619AAFC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E7C3DD72-1D87-E672-A3F1-E76FC174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53F78585-866D-0E02-FFDB-F256D11A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8F91DB89-B1E2-9D92-EC27-7BC49DDA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91382261-F42F-B719-73A8-CA774DFE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B207365F-4DAF-5588-DA13-5F816DC9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F33CFB26-3610-C0AB-C4D3-534D50F6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18F27330-18D8-4158-3E93-EA307EE2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225CCF48-A646-3FD2-154F-541E3C9D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D980ECCD-BAE5-E230-01FA-29A01E62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1F641627-78AE-C00B-8C2C-082FF507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22436800-F9A7-4F14-CA87-26B24A96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200"/>
            <a:ext cx="1041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Проблема</a:t>
            </a:r>
          </a:p>
        </p:txBody>
      </p:sp>
      <p:sp>
        <p:nvSpPr>
          <p:cNvPr id="34" name="Прямоугольник: скругленные углы 33">
            <a:extLst xmlns:a="http://schemas.openxmlformats.org/drawingml/2006/main"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0800"/>
            <a:ext cx="109728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F1B3D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C2355CD-76F6-2B0B-F764-A753395F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98600"/>
            <a:ext cx="254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ГЛАВНАЯ ПРОБЛЕМА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0060AB8A-4721-6C80-8320-2DAF3DF2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7200"/>
            <a:ext cx="103632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Студенту сложно понять, хватит ли денег до следующего поступления</a:t>
            </a:r>
          </a:p>
        </p:txBody>
      </p:sp>
      <p:sp>
        <p:nvSpPr>
          <p:cNvPr id="37" name="Прямоугольник: скругленные углы 36">
            <a:extLst xmlns:a="http://schemas.openxmlformats.org/drawingml/2006/main"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4000"/>
            <a:ext cx="3521710" cy="2971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Прямоугольник: скругленные углы 37">
            <a:extLst xmlns:a="http://schemas.openxmlformats.org/drawingml/2006/main"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048000"/>
            <a:ext cx="431800" cy="330200"/>
          </a:xfrm>
          <a:prstGeom xmlns:a="http://schemas.openxmlformats.org/drawingml/2006/main" prst="roundRect">
            <a:avLst>
              <a:gd name="adj" fmla="val 22000"/>
            </a:avLst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35CE03E8-EF9F-50BD-2D87-AC6E79E3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581400"/>
            <a:ext cx="301371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КТО?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084DCEA2-6731-B78E-231A-47649E58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Студенты 18–25 лет, которые совмещают учёбу и подработку</a:t>
            </a:r>
          </a:p>
        </p:txBody>
      </p:sp>
      <p:sp>
        <p:nvSpPr>
          <p:cNvPr id="41" name="Прямоугольник: скругленные углы 40">
            <a:extLst xmlns:a="http://schemas.openxmlformats.org/drawingml/2006/main">
              <a:ext uri="{FF2B5EF4-FFF2-40B4-BE49-F238E27FC236}">
                <a16:creationId xmlns:a16="http://schemas.microsoft.com/office/drawing/2014/main" id="{8D97D51E-E4E2-AF70-D55A-9FE31865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510" y="2794000"/>
            <a:ext cx="3521710" cy="2971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Прямоугольник: скругленные углы 41">
            <a:extLst xmlns:a="http://schemas.openxmlformats.org/drawingml/2006/main">
              <a:ext uri="{FF2B5EF4-FFF2-40B4-BE49-F238E27FC236}">
                <a16:creationId xmlns:a16="http://schemas.microsoft.com/office/drawing/2014/main" id="{7AC1118F-0CDC-DD46-94EA-A99AE114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510" y="3048000"/>
            <a:ext cx="431800" cy="330200"/>
          </a:xfrm>
          <a:prstGeom xmlns:a="http://schemas.openxmlformats.org/drawingml/2006/main" prst="roundRect">
            <a:avLst>
              <a:gd name="adj" fmla="val 22000"/>
            </a:avLst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4229335-D9FD-65E0-03BA-FE7DADF9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510" y="3581400"/>
            <a:ext cx="301371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ЧТО ПРОИСХОДИТ?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0525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Стипендия приходит по расписанию. Выплаты за смены меняются по сумме и дате.</a:t>
            </a:r>
          </a:p>
        </p:txBody>
      </p:sp>
      <p:sp>
        <p:nvSpPr>
          <p:cNvPr id="45" name="Прямоугольник: скругленные углы 44">
            <a:extLst xmlns:a="http://schemas.openxmlformats.org/drawingml/2006/main">
              <a:ext uri="{FF2B5EF4-FFF2-40B4-BE49-F238E27FC236}">
                <a16:creationId xmlns:a16="http://schemas.microsoft.com/office/drawing/2014/main" id="{2184B6B5-01CE-EBC9-F489-ADC3ABDB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420" y="2794000"/>
            <a:ext cx="3521710" cy="2971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Прямоугольник: скругленные углы 45">
            <a:extLst xmlns:a="http://schemas.openxmlformats.org/drawingml/2006/main">
              <a:ext uri="{FF2B5EF4-FFF2-40B4-BE49-F238E27FC236}">
                <a16:creationId xmlns:a16="http://schemas.microsoft.com/office/drawing/2014/main" id="{FD0B530A-1A02-2574-E468-35B6C7E9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0" y="3048000"/>
            <a:ext cx="431800" cy="330200"/>
          </a:xfrm>
          <a:prstGeom xmlns:a="http://schemas.openxmlformats.org/drawingml/2006/main" prst="roundRect">
            <a:avLst>
              <a:gd name="adj" fmla="val 22000"/>
            </a:avLst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982C76D2-87C6-94CA-DD3C-C594F3B9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0" y="3581400"/>
            <a:ext cx="301371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ПОЧЕМУ ЭТО ВАЖНО?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AC203677-9668-42BA-013B-8EFB8A9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0525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Остаток на карте не показывает, сколько денег останется после обязательных платежей.</a:t>
            </a:r>
          </a:p>
        </p:txBody>
      </p:sp>
    </p:spTree>
    <p:extLst>
      <p:ext uri="{BB962C8B-B14F-4D97-AF65-F5344CB8AC3E}">
        <p14:creationId xmlns:p14="http://schemas.microsoft.com/office/powerpoint/2010/main" val="823398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0D7E102-3B36-75D6-C951-5BD09A21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C6818B-48E9-D250-EB7F-8E42B245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04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361991E-6A1F-D7A4-F342-F73157C7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29E4CE54-FFF6-A969-E9B7-9B419140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6E64657D-D2A1-AC5C-802A-698B9F6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CF97B05-DAC9-B61C-B394-D46CAB7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38F21BAF-0531-CC27-610E-A88E52B0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FEF228FD-634B-A71A-6C7F-040F622A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2FF8834-AC51-783B-F4EE-4B7ED16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75657C1A-A19C-8442-2DF2-C0459A66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B9DD9CD7-FA6E-9B7D-B5FB-6F4440A3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9FCF398-0DA1-06A1-99C6-A118DBC7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2042711D-C84D-271D-0782-0139C41E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FB47B9B6-8D31-2105-9375-AF83D4BD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7876DE32-1E85-27A7-8432-1E022F1A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06C9D4CC-EB52-68CA-6027-D9BA6C65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A3EA97F5-9416-1D12-093A-E48367F4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C3CD0466-70EE-7302-F3A8-A98CCEB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396D4264-7F21-BE89-589F-2CCF2AD9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1077BB96-9250-7E3A-60D3-D5469B8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B11507E5-1367-063F-3FB7-579C36B0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B38DA347-9E40-78BF-3146-EC62CD51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11742702-C865-2982-9428-433CD15D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59AA0890-1B5F-5A6F-2A35-47F9C431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F2E6DB67-44A6-88BB-218C-BDCCE0B5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692E34B9-24A9-424F-FB8D-A398D0B1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125126ED-7BE8-6B7F-7D71-7DC635CB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A083EEE3-30A0-B936-95FC-0E80BC47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F1D36EB8-6D8B-59C0-D2BE-912333CB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61514C11-7344-35B2-746D-5912F375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04BDA61-6CA5-F8A3-E4B4-3D042310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200"/>
            <a:ext cx="1041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Пользователь</a:t>
            </a:r>
          </a:p>
        </p:txBody>
      </p:sp>
      <p:sp>
        <p:nvSpPr>
          <p:cNvPr id="34" name="Прямоугольник: скругленные углы 33">
            <a:extLst xmlns:a="http://schemas.openxmlformats.org/drawingml/2006/main">
              <a:ext uri="{FF2B5EF4-FFF2-40B4-BE49-F238E27FC236}">
                <a16:creationId xmlns:a16="http://schemas.microsoft.com/office/drawing/2014/main" id="{46F126BF-6094-BB27-B39D-44322CB9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0800"/>
            <a:ext cx="3810000" cy="444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Овал 34">
            <a:extLst xmlns:a="http://schemas.openxmlformats.org/drawingml/2006/main">
              <a:ext uri="{FF2B5EF4-FFF2-40B4-BE49-F238E27FC236}">
                <a16:creationId xmlns:a16="http://schemas.microsoft.com/office/drawing/2014/main" id="{ABE81A78-B8F3-C59C-3E6C-E0A1AA1C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25600"/>
            <a:ext cx="1524000" cy="1524000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Прямоугольник 35">
            <a:extLst xmlns:a="http://schemas.openxmlformats.org/drawingml/2006/main">
              <a:ext uri="{FF2B5EF4-FFF2-40B4-BE49-F238E27FC236}">
                <a16:creationId xmlns:a16="http://schemas.microsoft.com/office/drawing/2014/main" id="{7397505D-CB13-D618-E2CC-A5E44E8A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9650" y="2108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Прямоугольник 36">
            <a:extLst xmlns:a="http://schemas.openxmlformats.org/drawingml/2006/main">
              <a:ext uri="{FF2B5EF4-FFF2-40B4-BE49-F238E27FC236}">
                <a16:creationId xmlns:a16="http://schemas.microsoft.com/office/drawing/2014/main" id="{5B903745-8678-B1FA-991C-4EED7CE2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800" y="2108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Прямоугольник 37">
            <a:extLst xmlns:a="http://schemas.openxmlformats.org/drawingml/2006/main">
              <a:ext uri="{FF2B5EF4-FFF2-40B4-BE49-F238E27FC236}">
                <a16:creationId xmlns:a16="http://schemas.microsoft.com/office/drawing/2014/main" id="{0931ACBA-1FA4-91C6-1523-1CA9AFD5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950" y="2108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Прямоугольник 38">
            <a:extLst xmlns:a="http://schemas.openxmlformats.org/drawingml/2006/main">
              <a:ext uri="{FF2B5EF4-FFF2-40B4-BE49-F238E27FC236}">
                <a16:creationId xmlns:a16="http://schemas.microsoft.com/office/drawing/2014/main" id="{53FAE1B5-7620-4541-8554-84A3B886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2550" y="2108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Прямоугольник 39">
            <a:extLst xmlns:a="http://schemas.openxmlformats.org/drawingml/2006/main">
              <a:ext uri="{FF2B5EF4-FFF2-40B4-BE49-F238E27FC236}">
                <a16:creationId xmlns:a16="http://schemas.microsoft.com/office/drawing/2014/main" id="{BA4FA758-43BD-97F5-81D9-5ACD06EE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79700" y="2108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Прямоугольник 40">
            <a:extLst xmlns:a="http://schemas.openxmlformats.org/drawingml/2006/main">
              <a:ext uri="{FF2B5EF4-FFF2-40B4-BE49-F238E27FC236}">
                <a16:creationId xmlns:a16="http://schemas.microsoft.com/office/drawing/2014/main" id="{3C8F0FAA-68BF-AE4E-9D2A-25281F8B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6850" y="2108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Прямоугольник 41">
            <a:extLst xmlns:a="http://schemas.openxmlformats.org/drawingml/2006/main">
              <a:ext uri="{FF2B5EF4-FFF2-40B4-BE49-F238E27FC236}">
                <a16:creationId xmlns:a16="http://schemas.microsoft.com/office/drawing/2014/main" id="{7E42AF72-B216-24BF-7EDC-45B07516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2500" y="2165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98A379BB-74BD-DFE4-B8F3-4755CB61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100" y="2165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0F0BFF4D-3DE2-3E15-C514-BE1128F4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5400" y="2165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BC64F689-E0D2-99F5-260E-253A11BA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4000" y="2165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Прямоугольник 45">
            <a:extLst xmlns:a="http://schemas.openxmlformats.org/drawingml/2006/main">
              <a:ext uri="{FF2B5EF4-FFF2-40B4-BE49-F238E27FC236}">
                <a16:creationId xmlns:a16="http://schemas.microsoft.com/office/drawing/2014/main" id="{AB42AAD6-4C31-21CB-7D51-710721A6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65350" y="2222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Прямоугольник 46">
            <a:extLst xmlns:a="http://schemas.openxmlformats.org/drawingml/2006/main">
              <a:ext uri="{FF2B5EF4-FFF2-40B4-BE49-F238E27FC236}">
                <a16:creationId xmlns:a16="http://schemas.microsoft.com/office/drawing/2014/main" id="{3430823A-6D47-1BEC-F5C4-A9D5D94E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8250" y="2222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Прямоугольник 47">
            <a:extLst xmlns:a="http://schemas.openxmlformats.org/drawingml/2006/main">
              <a:ext uri="{FF2B5EF4-FFF2-40B4-BE49-F238E27FC236}">
                <a16:creationId xmlns:a16="http://schemas.microsoft.com/office/drawing/2014/main" id="{35FC7404-B560-26DA-8F1A-25B02BD8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1150" y="2222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Прямоугольник 48">
            <a:extLst xmlns:a="http://schemas.openxmlformats.org/drawingml/2006/main">
              <a:ext uri="{FF2B5EF4-FFF2-40B4-BE49-F238E27FC236}">
                <a16:creationId xmlns:a16="http://schemas.microsoft.com/office/drawing/2014/main" id="{DB597668-23A0-7C64-1959-21203B4D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65350" y="2279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Прямоугольник 49">
            <a:extLst xmlns:a="http://schemas.openxmlformats.org/drawingml/2006/main">
              <a:ext uri="{FF2B5EF4-FFF2-40B4-BE49-F238E27FC236}">
                <a16:creationId xmlns:a16="http://schemas.microsoft.com/office/drawing/2014/main" id="{E51C2EFC-0CAD-F754-F875-1991C1D9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1150" y="2279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Прямоугольник 50">
            <a:extLst xmlns:a="http://schemas.openxmlformats.org/drawingml/2006/main">
              <a:ext uri="{FF2B5EF4-FFF2-40B4-BE49-F238E27FC236}">
                <a16:creationId xmlns:a16="http://schemas.microsoft.com/office/drawing/2014/main" id="{1392214E-7B20-49AC-FFAF-30CB6371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65350" y="2336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Прямоугольник 51">
            <a:extLst xmlns:a="http://schemas.openxmlformats.org/drawingml/2006/main">
              <a:ext uri="{FF2B5EF4-FFF2-40B4-BE49-F238E27FC236}">
                <a16:creationId xmlns:a16="http://schemas.microsoft.com/office/drawing/2014/main" id="{95860716-4722-E4B5-F04F-50E9C9B6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1150" y="2336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F18F35DB-0C5D-B4B1-7F35-AEB6A2BA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2500" y="2393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663673EA-DE7B-9D26-5E7B-8EBE66DD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4000" y="2393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Прямоугольник 54">
            <a:extLst xmlns:a="http://schemas.openxmlformats.org/drawingml/2006/main">
              <a:ext uri="{FF2B5EF4-FFF2-40B4-BE49-F238E27FC236}">
                <a16:creationId xmlns:a16="http://schemas.microsoft.com/office/drawing/2014/main" id="{846C2CF8-1EA3-35F3-6DB6-61AB50B6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9650" y="2451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93E7C103-C924-0952-5DEE-3AE2D6A7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6850" y="2451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Прямоугольник 56">
            <a:extLst xmlns:a="http://schemas.openxmlformats.org/drawingml/2006/main">
              <a:ext uri="{FF2B5EF4-FFF2-40B4-BE49-F238E27FC236}">
                <a16:creationId xmlns:a16="http://schemas.microsoft.com/office/drawing/2014/main" id="{4D3CA6DA-EB83-B44F-5C4A-E96021E0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800" y="2508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Прямоугольник 57">
            <a:extLst xmlns:a="http://schemas.openxmlformats.org/drawingml/2006/main">
              <a:ext uri="{FF2B5EF4-FFF2-40B4-BE49-F238E27FC236}">
                <a16:creationId xmlns:a16="http://schemas.microsoft.com/office/drawing/2014/main" id="{27BC3720-9408-DC5B-DA54-8141C8D4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79700" y="2508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A6934A12-1494-446E-B9B7-4E06AC6F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950" y="2565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Прямоугольник 59">
            <a:extLst xmlns:a="http://schemas.openxmlformats.org/drawingml/2006/main">
              <a:ext uri="{FF2B5EF4-FFF2-40B4-BE49-F238E27FC236}">
                <a16:creationId xmlns:a16="http://schemas.microsoft.com/office/drawing/2014/main" id="{CADC189E-D130-2E90-4521-99DA086E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2550" y="2565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Прямоугольник 60">
            <a:extLst xmlns:a="http://schemas.openxmlformats.org/drawingml/2006/main">
              <a:ext uri="{FF2B5EF4-FFF2-40B4-BE49-F238E27FC236}">
                <a16:creationId xmlns:a16="http://schemas.microsoft.com/office/drawing/2014/main" id="{339A83C9-58AD-9D59-A10C-E8E11DF9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100" y="2622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ACC00643-7925-632B-CE94-57C77BE0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5400" y="2622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Прямоугольник 62">
            <a:extLst xmlns:a="http://schemas.openxmlformats.org/drawingml/2006/main">
              <a:ext uri="{FF2B5EF4-FFF2-40B4-BE49-F238E27FC236}">
                <a16:creationId xmlns:a16="http://schemas.microsoft.com/office/drawing/2014/main" id="{61507F75-FAA3-4E1F-9E6F-F6FDE96E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8250" y="2679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9225301E-C7AD-5393-65A8-95031F85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378200"/>
            <a:ext cx="330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spc="150">
                <a:solidFill>
                  <a:srgbClr val="22A889"/>
                </a:solidFill>
                <a:latin typeface="Arial"/>
                <a:ea typeface="Arial"/>
                <a:cs typeface="Arial"/>
              </a:rPr>
              <a:t>ПОРТРЕТ ПОЛЬЗОВАТЕЛЯ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9CD70F14-28EE-F39B-E76B-840928F8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657600"/>
            <a:ext cx="330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Студент, который сам считает, хватит ли денег до стипендии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152FB9B3-03D1-4631-B973-904400BC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91025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Учится очно и подрабатывает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Доход от смен меняется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Сам оплачивает повседневные расходы</a:t>
            </a:r>
          </a:p>
        </p:txBody>
      </p:sp>
      <p:sp>
        <p:nvSpPr>
          <p:cNvPr id="68" name="Прямоугольник: скругленные углы 67">
            <a:extLst xmlns:a="http://schemas.openxmlformats.org/drawingml/2006/main">
              <a:ext uri="{FF2B5EF4-FFF2-40B4-BE49-F238E27FC236}">
                <a16:creationId xmlns:a16="http://schemas.microsoft.com/office/drawing/2014/main" id="{5164D08C-C9BD-405D-04D9-2F8AD717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1320800"/>
            <a:ext cx="6908800" cy="13462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Прямоугольник: скругленные углы 68">
            <a:extLst xmlns:a="http://schemas.openxmlformats.org/drawingml/2006/main">
              <a:ext uri="{FF2B5EF4-FFF2-40B4-BE49-F238E27FC236}">
                <a16:creationId xmlns:a16="http://schemas.microsoft.com/office/drawing/2014/main" id="{39F97884-5992-3058-A9A8-ACAEAE7F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1600200"/>
            <a:ext cx="431800" cy="330200"/>
          </a:xfrm>
          <a:prstGeom xmlns:a="http://schemas.openxmlformats.org/drawingml/2006/main" prst="roundRect">
            <a:avLst>
              <a:gd name="adj" fmla="val 22000"/>
            </a:avLst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879C28B8-72A4-43CA-CB70-94CAD800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1600200"/>
            <a:ext cx="558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ОСНОВНАЯ ЦА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28927D53-7B8E-E6F0-FAFA-96F8A7D7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1879600"/>
            <a:ext cx="571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Студенты 18–25 лет, которые самостоятельно управляют личными расходами</a:t>
            </a:r>
          </a:p>
        </p:txBody>
      </p:sp>
      <p:sp>
        <p:nvSpPr>
          <p:cNvPr id="72" name="Прямоугольник: скругленные углы 71">
            <a:extLst xmlns:a="http://schemas.openxmlformats.org/drawingml/2006/main">
              <a:ext uri="{FF2B5EF4-FFF2-40B4-BE49-F238E27FC236}">
                <a16:creationId xmlns:a16="http://schemas.microsoft.com/office/drawing/2014/main" id="{2B0D194A-0596-4463-6964-F6E55948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870200"/>
            <a:ext cx="6908800" cy="13462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Прямоугольник: скругленные углы 72">
            <a:extLst xmlns:a="http://schemas.openxmlformats.org/drawingml/2006/main">
              <a:ext uri="{FF2B5EF4-FFF2-40B4-BE49-F238E27FC236}">
                <a16:creationId xmlns:a16="http://schemas.microsoft.com/office/drawing/2014/main" id="{E4800A70-2D8F-AEEA-B082-9F7B800E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3149600"/>
            <a:ext cx="431800" cy="330200"/>
          </a:xfrm>
          <a:prstGeom xmlns:a="http://schemas.openxmlformats.org/drawingml/2006/main" prst="roundRect">
            <a:avLst>
              <a:gd name="adj" fmla="val 22000"/>
            </a:avLst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C02EB3D7-365D-2EF5-7E14-FDD75CB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149600"/>
            <a:ext cx="558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СЕГМЕНТ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ED265B11-1D29-F3EC-F456-BFD67411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429000"/>
            <a:ext cx="571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Стипендия плюс подработка: деньги приходят в разные даты и разными суммами</a:t>
            </a:r>
          </a:p>
        </p:txBody>
      </p:sp>
      <p:sp>
        <p:nvSpPr>
          <p:cNvPr id="76" name="Прямоугольник: скругленные углы 75">
            <a:extLst xmlns:a="http://schemas.openxmlformats.org/drawingml/2006/main">
              <a:ext uri="{FF2B5EF4-FFF2-40B4-BE49-F238E27FC236}">
                <a16:creationId xmlns:a16="http://schemas.microsoft.com/office/drawing/2014/main" id="{1CAC03A0-214E-5FC7-FB67-D90A367F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4419600"/>
            <a:ext cx="6908800" cy="13462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Прямоугольник: скругленные углы 76">
            <a:extLst xmlns:a="http://schemas.openxmlformats.org/drawingml/2006/main">
              <a:ext uri="{FF2B5EF4-FFF2-40B4-BE49-F238E27FC236}">
                <a16:creationId xmlns:a16="http://schemas.microsoft.com/office/drawing/2014/main" id="{E9E81BB4-8AF8-2BDC-EE64-DEA8DE16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4699000"/>
            <a:ext cx="431800" cy="330200"/>
          </a:xfrm>
          <a:prstGeom xmlns:a="http://schemas.openxmlformats.org/drawingml/2006/main" prst="roundRect">
            <a:avLst>
              <a:gd name="adj" fmla="val 22000"/>
            </a:avLst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F022496D-F8C5-CF43-D46E-90DCB962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4699000"/>
            <a:ext cx="558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 spc="100">
                <a:solidFill>
                  <a:srgbClr val="22A889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2097DB5A-3005-DADB-8D1F-99078083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4978400"/>
            <a:ext cx="571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Нужно учесть жильё, связь и резерв, прежде чем решить, сколько тратить сегодня</a:t>
            </a:r>
          </a:p>
        </p:txBody>
      </p:sp>
    </p:spTree>
    <p:extLst>
      <p:ext uri="{BB962C8B-B14F-4D97-AF65-F5344CB8AC3E}">
        <p14:creationId xmlns:p14="http://schemas.microsoft.com/office/powerpoint/2010/main" val="40277298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AE30C3-D144-9786-3491-CE174604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367B171-7ECB-1ED3-D93F-4E9D75AF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05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1B4B66FD-F435-7C17-D350-2AD35126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0ADAB74C-F431-9350-71AB-974ED36E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983AE699-6108-D747-4EC5-C77E68AC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9BBED82-C31C-727B-C84E-7DBB4742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5DCCC5E9-D85D-7B03-5434-D44A77CD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1A8FFD90-6C58-E810-8B58-97F9D3B8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0B7519F-6B70-ADA6-3216-4CB5C37F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E7009FEC-E36C-8C13-610D-954527E1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31C221F-E1C8-1D93-7194-FB70258F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C142320-4D8E-D458-941C-F5153A5B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9C6D7C0C-26E5-0142-A059-9F593EF6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FBF0A95D-824A-3C3E-8104-D6FA466C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331B85C5-A21D-A791-35A8-8D953D6F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142C75E-B0BC-C09D-27A7-3ABD329C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737EFE9-4A4F-99CD-4308-130F8B18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57A66CC-87CC-2AFD-5175-871BE074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741770E3-D9B2-2226-A7E9-BA35B6BE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A392808F-5C93-678A-68B7-726AFE03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5E3A129F-FCF5-C070-4F66-FB4DB647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887E3A7A-0E62-527D-A2DC-51B6F91D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9A7B157A-9CA9-A442-7316-5B9AD712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1D3FE673-D6B7-8F95-6FE9-90F09BE3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49312BD8-55AE-5C20-91B7-BD5B5FBE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F5DB632F-87CD-A2F8-0683-9CC71AF2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B736626B-7072-B270-DDF2-99EF02B0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34C36A90-E70F-B8BB-98A7-3778E73B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2F590B6C-F52F-F2A1-1040-F3879F3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F6798FB0-2739-0CE2-FC75-C252CD3D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1981A733-C286-F8E5-3CAD-AE2A6711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Предлагаемое решение</a:t>
            </a:r>
          </a:p>
        </p:txBody>
      </p:sp>
      <p:sp>
        <p:nvSpPr>
          <p:cNvPr id="34" name="Прямоугольник: скругленные углы 33">
            <a:extLst xmlns:a="http://schemas.openxmlformats.org/drawingml/2006/main">
              <a:ext uri="{FF2B5EF4-FFF2-40B4-BE49-F238E27FC236}">
                <a16:creationId xmlns:a16="http://schemas.microsoft.com/office/drawing/2014/main" id="{AD1AC979-973C-0D7B-3FE7-0331EE9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0800"/>
            <a:ext cx="66040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F1B3D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3733BCA-DDEC-22DE-225A-A5435985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НАШ ПРОДУКТ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0C505BF-E63E-73BD-E1DF-C18F17FE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5953125" cy="1181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finly собирает операции и рассчитывает дневной бюджет с учётом платежей, резерва и даты поступления.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F2A32F-68C1-1408-6398-107ED7ED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660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000" b="1" spc="150">
                <a:solidFill>
                  <a:srgbClr val="22A889"/>
                </a:solidFill>
                <a:latin typeface="Arial"/>
                <a:ea typeface="Arial"/>
                <a:cs typeface="Arial"/>
              </a:rPr>
              <a:t>КАК РЕШАЕМ ПРОБЛЕМУ</a:t>
            </a:r>
          </a:p>
        </p:txBody>
      </p:sp>
      <p:sp>
        <p:nvSpPr>
          <p:cNvPr id="38" name="Прямоугольник: скругленные углы 37">
            <a:extLst xmlns:a="http://schemas.openxmlformats.org/drawingml/2006/main">
              <a:ext uri="{FF2B5EF4-FFF2-40B4-BE49-F238E27FC236}">
                <a16:creationId xmlns:a16="http://schemas.microsoft.com/office/drawing/2014/main" id="{9842D52D-DADE-F20A-80E2-AB4BC44F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4600"/>
            <a:ext cx="1905000" cy="19812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B889672-E0C9-D9CA-B1D5-4C7DF01F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987800"/>
            <a:ext cx="149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942CF601-EEEC-007C-5629-44CFD81C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1495425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Непонятно, сколько можно потратить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3CC70004-54D9-1515-0105-711E81C0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4622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22A88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Прямоугольник: скругленные углы 41">
            <a:extLst xmlns:a="http://schemas.openxmlformats.org/drawingml/2006/main">
              <a:ext uri="{FF2B5EF4-FFF2-40B4-BE49-F238E27FC236}">
                <a16:creationId xmlns:a16="http://schemas.microsoft.com/office/drawing/2014/main" id="{053B6FB2-2876-5808-E5C5-6CD415D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3784600"/>
            <a:ext cx="1905000" cy="19812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4F60942-A611-7D41-6E78-46811FB3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87800"/>
            <a:ext cx="149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Механика решения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7AC021-645A-65AF-49DB-5FE5CA0C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72000"/>
            <a:ext cx="1495425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Учитываем остаток и будущие платежи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45846D3B-F136-9DE9-711F-D237CA9F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22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22A88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6" name="Прямоугольник: скругленные углы 45">
            <a:extLst xmlns:a="http://schemas.openxmlformats.org/drawingml/2006/main">
              <a:ext uri="{FF2B5EF4-FFF2-40B4-BE49-F238E27FC236}">
                <a16:creationId xmlns:a16="http://schemas.microsoft.com/office/drawing/2014/main" id="{E25D1AB4-8354-1C85-F3FC-F220335C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3784600"/>
            <a:ext cx="1905000" cy="19812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FA6E7DFB-5D86-3056-3892-3D06837F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3987800"/>
            <a:ext cx="149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0F1B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CECEF5C2-C386-4B3F-389B-014829FD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572000"/>
            <a:ext cx="1495425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Понятный лимит на каждый день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002C14BA-6141-00E8-77EF-38BB4598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3314700"/>
            <a:ext cx="36576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 b="1">
              <a:solidFill>
                <a:srgbClr val="6B789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3E1C79-80B8-41B6-B56B-0997656E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906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НАЧАТЬ МОЖНО С ВЫПИСКИ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7E23B5-4ACD-4BFD-96BB-8051A1DE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574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PDF или CSV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9F0B3C-6215-40AE-A12A-A5C82B1D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955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Пользователь проверяет операции перед сохранением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2D25E3-D5AA-4AE3-BE00-1C8A5C05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Для демонстрации автоматизации подключён учебный банк</a:t>
            </a:r>
          </a:p>
        </p:txBody>
      </p:sp>
    </p:spTree>
    <p:extLst>
      <p:ext uri="{BB962C8B-B14F-4D97-AF65-F5344CB8AC3E}">
        <p14:creationId xmlns:p14="http://schemas.microsoft.com/office/powerpoint/2010/main" val="3025478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E9D6CA0-3F2C-DC63-46A7-345EC20C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2503FF-81D1-0180-32C2-5EAD792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06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52829D8C-F18D-B1E8-728B-BB256290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F86AB556-3B7B-8845-08D5-6C9805AD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DC9A401B-8D57-1568-BA79-F4E408E9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B7F383E-DFD5-4AA8-2C93-D47C2C82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E57D6249-6352-1195-304E-92584816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FC6A21B5-1A51-818A-D50C-9418DC9A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B9842DD4-0511-5F15-23BE-DB86DD03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196CB868-B1DB-CF6C-D35A-584675C1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9A20F218-7463-B104-0477-50585354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8C55B7B9-7CC5-DBFF-AADA-2481453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EE5E1266-F93C-8835-4133-025814D3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CAE24A51-45F6-C1A3-5A03-4C977A45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FC212C6B-0FEC-12CF-8E7C-E2518163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DC1DB416-5A80-6B30-F839-FC15CE75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F98EFEDD-4734-62D4-93E9-6D6811EA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C85B963-3F3D-1EFA-E809-0BE69EB9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040BA5B2-2E9A-9BA8-D892-6F2BFC47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F4BC92F9-D6ED-524B-940E-C4C6327F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24260F5F-1E0D-2A13-E001-ACEDCD02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86FBB2FA-A625-890A-046E-4E6B4544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1C827E2D-E3F1-4EFE-7039-F19A8961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C20F2483-D5C8-D338-D4F7-D14DE4DC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9FDDBE40-77B2-78C7-0750-BA0DD666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D0403811-8CC5-CCF1-086C-D5C1F8F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0FB7E1DA-9FC3-B410-AF03-D92B87D4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74204A84-4C38-8054-15DE-6DF9283F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5CE84307-58D8-2681-F279-CD6D0A34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87669487-4751-3EF6-9CDC-D58043E9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67CED46-4673-80DE-BD37-C8914F01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200"/>
            <a:ext cx="1041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Ценность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DD8288D-2B5B-B9E5-4BB7-B72C5A1C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Понятный ориентир для ежедневных трат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CCC2A1-396E-48F0-BD5D-CBEE413B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ПРИМЕР РАСЧЁТА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D6F71B-C343-4FE0-907C-197D5921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20 000 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5315A6-49BB-453B-8256-DDB04C5E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известный остаток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2E99F7-C110-4A79-9CCE-D94BCBB0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3 000 ₽  обязательные платежи</a:t>
            </a:r>
          </a:p>
          <a:p xmlns:a="http://schemas.openxmlformats.org/drawingml/2006/main">
            <a:pPr>
              <a:defRPr sz="20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2 000 ₽  резерв</a:t>
            </a:r>
          </a:p>
          <a:p xmlns:a="http://schemas.openxmlformats.org/drawingml/2006/main">
            <a:pPr>
              <a:defRPr sz="202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10 дней  до поступления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2808F7-9450-4739-A035-BDBEB030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6222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1 500 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85FC30-A6DC-4927-8F1E-9E964888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можно тратить в день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C05DAC-3ED4-45EA-B215-ACD4D716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053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(20 000 − 3 000 − 2 000) /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A626A3-C781-4382-9979-AD77EA61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Условный пример без холдов. Эффект для пользователей проверим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602982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2D644D0-3DBB-1D34-FFDE-699865B0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D139900-E3F8-B423-1D91-AEDA6ED5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07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223AC839-088C-800A-C07E-E7EFC2B2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8900FA75-7B51-78BA-C469-71C723B6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8104A54D-F4C4-6EC1-6BC0-5BC3779E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7DC6FF1-5B31-8BBF-CEA5-F04A2D0C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C043EF6-68A1-26B9-1A90-80D79527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FA73092C-48E3-FE2D-2DDA-314671BC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1DBD3CEA-DB45-533C-F675-B3AA252F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1A98F202-D5FE-85D9-1617-394A2917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9833D220-BC3C-E4EF-6A33-AEEEF55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08E26C02-A69C-8DCF-15EA-0A20F76C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7D10AEEF-1C1D-6196-A8ED-080DF0CA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98CF15D4-15EE-12A6-78B3-3F0ED06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7CF8C52B-4582-59F7-2A19-E5AA8D3A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8AA342C0-8EED-62C4-A982-D24EE7BE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BD2C90BF-2D80-E4B4-62F9-0E3B7A1C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DB5556CD-EE91-AC2F-5587-D458DB0C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A512EDD7-DB62-C172-F236-7CBEC7B6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627744A8-3666-84AF-23B6-20DE9942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574639A0-915A-1CA2-D63C-ED5B9DF5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9B861A95-B934-5A10-39EF-511EFAE7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9530CDA2-4A70-2274-B6FE-81A337A4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F1783F43-53DA-22F9-8D60-B82B5AC3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3F25574E-BEBC-FDEA-E813-F92CA545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FB4A53B2-F49E-9FE1-1C54-DDFB24C0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0D673A5C-960C-2FB9-03A1-C318A6FF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B0129FE1-6000-5148-72E8-035A7D4D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B68B88AA-035E-CF13-9E96-1C955D52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60EA62EB-6878-E4A7-0485-6DBC7CE0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EC59F86-AA8B-EECA-6E3A-95F5CAAE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200"/>
            <a:ext cx="1041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Ключевые возможности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FB32DC-ACBD-4972-A0CE-F0FB6572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Импорт PDF и CSV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430501-DC45-4DE9-8083-6E94CD8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Проверка строк до подтверждения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7760C2-443D-4914-8AC4-3667B16D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Бюджет до поступления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1E9A0A-D5F5-4CE0-ADB5-E78A2A20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Платежи, резерв и дневной лимит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5ED4E1-6AA0-49C1-8799-571A8E97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Операции и аналитика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359C7A-F48E-4E54-83C0-C53E7FF2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Категории расходов и история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FA9B34-6656-48F7-A34A-0273F1C9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Учебный банковский API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584ADB-E7A8-45B5-A6EC-64CD4641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Счета, остатки и синхронизация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E85F88-5196-4475-A5DF-572E416B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Предупреждения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DF260A-CA5E-4942-9029-D4A78085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Крупная покупка и превышение лимита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F6A11D-8B81-4C8A-9D2E-A0598431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AI-помощник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3781F6-50C3-4B6E-ACF4-CAE7ACC5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625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Объясняет расчётные показатели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D94247-F568-443F-886C-95A66C82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AC90"/>
                </a:solidFill>
                <a:latin typeface="Arial"/>
                <a:ea typeface="Arial"/>
                <a:cs typeface="Arial"/>
              </a:rPr>
              <a:t>Локальный MVP. Реальные банковские счета и платежи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28019361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84B0E2-BBA5-CE43-2543-85574D32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ГЛАВНОЕ ОТЛИЧИЕ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469A137-FAF5-F0BB-0F3D-4B6FDC1B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08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D23B2A64-18F5-E291-1A6E-FEEA3E07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BA97DEB-3209-6C4F-1222-38F69B6F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7C2A37FD-960B-EA9B-FBE4-A13DD79E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3F29764A-0A37-BF7A-D00A-B8A6DE76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00BFCA72-4940-49D5-F42E-4273E35A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29693858-1E11-C515-0FF4-0E51805A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DD393096-A2B0-6CC4-E411-4BCEE217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DBB76C3D-02C0-16F2-034B-BCF6950B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C08B162A-1E45-3F79-B84C-9278FAC3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CF9285-84CD-CC8A-A2BB-8E77E3F8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E1ECC5F7-9E77-3CC7-B4B4-1AB9E695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A5C04CC1-C621-4BB7-563A-BDD786B5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19769C0F-0DFC-406C-03CF-248BEF4C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E75A6BB7-9ADE-53FF-33EF-D3328FD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D1CF1239-BA43-56D8-4E52-EC336741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E274341B-0086-8359-F3F4-49568051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52831725-310E-003B-660E-B62C3324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EE3D8DF4-E120-1A63-ABE0-306191F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7521F739-4152-9755-7891-54D50BA2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3834688-7880-ADA2-4948-AFF17BEE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46A58923-AA62-A71F-D9B0-ADA7D068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8FCBE72C-8843-E76C-567A-8C4D749F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39B5C589-A8B9-00BD-8401-DBBCF2C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058D8DFF-2D91-9160-7D0C-8986508C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7AEFF877-9A21-1777-5831-E764827F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A5728125-4E74-3463-FC12-98C6CCC7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0CE4F64C-9681-DB7B-1FB2-4FC23738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58CC6418-743D-D9C8-9C98-BC096C88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6091AF9-D03D-A387-6A36-0B73C91F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200"/>
            <a:ext cx="1041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Бюджет после каждой покупки</a:t>
            </a:r>
          </a:p>
        </p:txBody>
      </p:sp>
      <p:sp>
        <p:nvSpPr>
          <p:cNvPr id="34" name="Прямоугольник: скругленные углы 33">
            <a:extLst xmlns:a="http://schemas.openxmlformats.org/drawingml/2006/main">
              <a:ext uri="{FF2B5EF4-FFF2-40B4-BE49-F238E27FC236}">
                <a16:creationId xmlns:a16="http://schemas.microsoft.com/office/drawing/2014/main" id="{88D7D58A-0C16-37DF-608B-E9694CE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0800"/>
            <a:ext cx="6604000" cy="4445000"/>
          </a:xfrm>
          <a:prstGeom xmlns:a="http://schemas.openxmlformats.org/drawingml/2006/main" prst="roundRect">
            <a:avLst>
              <a:gd name="adj" fmla="val 7000"/>
            </a:avLst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7F6D6F9-7A53-A14F-C08B-E5EDAADD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16256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КЛЮЧЕВАЯ ОСОБЕННОСТЬ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97AB334-E83C-1D97-3B27-1B9ED279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1905000"/>
            <a:ext cx="589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Покупка меняет</a:t>
            </a:r>
          </a:p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план на оставшиеся дни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4439CE-BB05-85AA-22EA-E95F3675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251200"/>
            <a:ext cx="589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Новая операция уменьшает доступную сумму. finly пересчитывает дневной бюджет и обновляет открытый экран.</a:t>
            </a:r>
          </a:p>
        </p:txBody>
      </p:sp>
      <p:sp>
        <p:nvSpPr>
          <p:cNvPr id="38" name="Прямоугольник: скругленные углы 37">
            <a:extLst xmlns:a="http://schemas.openxmlformats.org/drawingml/2006/main">
              <a:ext uri="{FF2B5EF4-FFF2-40B4-BE49-F238E27FC236}">
                <a16:creationId xmlns:a16="http://schemas.microsoft.com/office/drawing/2014/main" id="{75DD55FA-F417-57F2-FC02-87E3AD6E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673600"/>
            <a:ext cx="5892800" cy="736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1EAB993-EA63-698E-0DC5-7FE12E4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538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ПОКАЖЕМ НА ДЕМО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14A404D-A6FF-D615-DA5F-4BC95DA4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29200"/>
            <a:ext cx="53848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Расход 12 000 ₽ изменит остаток и лимит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344D0987-F041-1882-B43E-5EA94F10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1320800"/>
            <a:ext cx="406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ФОКУС ПРОДУКТА</a:t>
            </a:r>
          </a:p>
        </p:txBody>
      </p:sp>
      <p:sp>
        <p:nvSpPr>
          <p:cNvPr id="42" name="Прямоугольник: скругленные углы 41">
            <a:extLst xmlns:a="http://schemas.openxmlformats.org/drawingml/2006/main">
              <a:ext uri="{FF2B5EF4-FFF2-40B4-BE49-F238E27FC236}">
                <a16:creationId xmlns:a16="http://schemas.microsoft.com/office/drawing/2014/main" id="{967FB96B-A6EE-E690-9DBB-7966D471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1625600"/>
            <a:ext cx="4064000" cy="1930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Прямоугольник: скругленные углы 42">
            <a:extLst xmlns:a="http://schemas.openxmlformats.org/drawingml/2006/main">
              <a:ext uri="{FF2B5EF4-FFF2-40B4-BE49-F238E27FC236}">
                <a16:creationId xmlns:a16="http://schemas.microsoft.com/office/drawing/2014/main" id="{31BA54BD-5EE8-2EEF-0076-CCD1FADE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79600"/>
            <a:ext cx="431800" cy="330200"/>
          </a:xfrm>
          <a:prstGeom xmlns:a="http://schemas.openxmlformats.org/drawingml/2006/main" prst="roundRect">
            <a:avLst>
              <a:gd name="adj" fmla="val 22000"/>
            </a:avLst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EF110B5-BF8A-9CD9-7525-684F0A4E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7600"/>
            <a:ext cx="355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До следующего поступления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0D3A045-6F58-AB1D-C1AB-3E99EFCA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17800"/>
            <a:ext cx="3556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Планирование вокруг даты стипендии и известных обязательств</a:t>
            </a:r>
          </a:p>
        </p:txBody>
      </p:sp>
      <p:sp>
        <p:nvSpPr>
          <p:cNvPr id="46" name="Прямоугольник: скругленные углы 45">
            <a:extLst xmlns:a="http://schemas.openxmlformats.org/drawingml/2006/main">
              <a:ext uri="{FF2B5EF4-FFF2-40B4-BE49-F238E27FC236}">
                <a16:creationId xmlns:a16="http://schemas.microsoft.com/office/drawing/2014/main" id="{5231C5F1-695B-7DFC-0F7C-1FFAC9C9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3759200"/>
            <a:ext cx="4064000" cy="1930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Прямоугольник: скругленные углы 46">
            <a:extLst xmlns:a="http://schemas.openxmlformats.org/drawingml/2006/main">
              <a:ext uri="{FF2B5EF4-FFF2-40B4-BE49-F238E27FC236}">
                <a16:creationId xmlns:a16="http://schemas.microsoft.com/office/drawing/2014/main" id="{D4C1B504-3D8D-0637-1DB8-DA223FE1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3200"/>
            <a:ext cx="431800" cy="330200"/>
          </a:xfrm>
          <a:prstGeom xmlns:a="http://schemas.openxmlformats.org/drawingml/2006/main" prst="roundRect">
            <a:avLst>
              <a:gd name="adj" fmla="val 22000"/>
            </a:avLst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C8BA849-EBEF-43DC-A451-81F89188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21200"/>
            <a:ext cx="355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Объяснимые суммы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E050B8CC-2CAD-8636-25C7-67EAC675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1400"/>
            <a:ext cx="3556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Сервер считает бюджет. AI выбирает объяснения по этим данным.</a:t>
            </a:r>
          </a:p>
        </p:txBody>
      </p:sp>
    </p:spTree>
    <p:extLst>
      <p:ext uri="{BB962C8B-B14F-4D97-AF65-F5344CB8AC3E}">
        <p14:creationId xmlns:p14="http://schemas.microsoft.com/office/powerpoint/2010/main" val="3545338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152A8FA-2092-457E-3280-3F68053C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09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FE09DBC5-86BA-CA7B-2FAA-857961E5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FF3B09AB-9174-D36B-951F-5C706CE7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63194180-8BE1-D5BD-8659-13109488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9756EB55-DFA5-69A2-6A44-E3D91E82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8C1280D-3E4D-D2E4-F2EE-5ABC6ACC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70CCD9BB-18A0-B425-294B-166D052B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06DC5417-1371-6668-54DE-446A5996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D9A64FA6-02B6-B0DF-020D-36FBFC1E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AC1FB737-E6A6-3C01-22EE-D76FC4CA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C3C57E28-9357-12D3-9259-E0BAAF2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688EE07-F4D7-3AE7-5F68-E6BCC330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6B8E5EFE-4E84-5878-0732-D0FAA929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F4097696-C1ED-35D4-C464-9738C075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4F066E6A-3459-2031-85D2-E432C766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8644A8A-6295-B751-6ACC-9E07915F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1EFFE68-616E-7D84-F880-EFEFB242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A0FB814B-4E09-E75A-6102-57A51BA6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0FC6135C-9645-7B9A-9014-6F90AC7C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C6947C61-E56F-985B-4461-EF2C55DB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16DEC0BD-98BF-8DB4-8D65-F27844B8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FB831DAA-56ED-AAD2-DACA-154B00A1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E97A4B78-6E10-BD17-DE81-976DCE8C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1613DB59-F43B-7790-BF71-3B939508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710EC174-52C4-0825-9E4F-9E6669D7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E71E1B4E-F208-7713-C571-EE532F36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5197D6AD-55AB-BD54-74D3-0333A347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5D705E6F-070E-151D-32D5-28FE5FAD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48073DBB-3E53-5907-92C9-666649EB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200"/>
            <a:ext cx="1041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Как это работает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CF8222-CC55-41E4-B301-8E2AC982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BFF7B9-A221-4AA5-B753-8DBD3145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Загрузка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DFE729-4C7A-4319-A9F6-65EEE18F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Выписка или учебный банк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43696D-B549-4912-A006-8EA339A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85925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985A63-5E4D-47A2-85F2-D9B4B9A9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CA8483-0C00-42B2-9B99-5F274B9E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337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Операции и известный остаток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0DEA1C-67DA-4438-B010-9DE66FC7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85925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C99C7C-C955-49F7-BFCC-AFC57A2D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A3B59A-99D3-4ACF-B114-B1BC798F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337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Платежи, резерв и дата дохода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1C917D-984E-4CA2-BE03-60F49143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85925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49B6E1-039D-4008-840C-C1DD8D2F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4317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018C45-EBDE-447A-88A9-43462E17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337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Дневной бюджет и объяснение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FCE51A-A19A-4D0B-8CCA-62A661DE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AC90"/>
                </a:solidFill>
                <a:latin typeface="Arial"/>
                <a:ea typeface="Arial"/>
                <a:cs typeface="Arial"/>
              </a:rPr>
              <a:t>КАК ПРИХОДЯТ ДАННЫЕ БАНКА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F603B6-E420-4CCD-91C3-1D82D8F6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Вход и токен   /   Счета и операции   /   Остатки   /   Пересчёт бюджета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D09CB0-41EF-4E79-A695-FBF5232B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Опрос банка каждые 15 секунд. События SSE обновляют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2363423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89AF0EA-3893-25ED-4B51-D9A60A73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E067A4-A2D6-ADFA-4F31-D1F56567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9C7B47C-7408-3FF4-156A-0CD3D73F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F61B322C-1D7B-CC04-7E36-B09048B7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89F17F71-6218-69E5-05B1-EEE247C1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335A30F7-ED53-AC9D-34FB-4F6925F3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46A0A320-EE7E-94CD-926F-B635F415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2FE5F157-ECEC-F3BA-AC01-B9A45577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F01AE495-B83D-BFBA-9E32-137DCA2E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5621DC9-3A43-2057-CB99-29031D4C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7E7A7406-D636-75EE-DE77-4320E29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2636A01-5FA0-1877-8CD7-B6A7B565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7DA5A7F-18ED-1943-CD32-133FFAE3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AA2B505B-D50B-A589-5852-619B14C5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A70926D9-6D6C-524D-5CE5-D96A51C5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B106AF4B-E091-8C73-1A44-61D7A70A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58C0B827-25E2-6D1F-51B5-73FF7751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ED21031-2AF0-1DA6-03A7-CC62A4EF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7EA49635-2F7F-234A-3BD4-33D753A0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ED0ABB53-38A5-8938-FDB5-649BFE76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19823465-39A0-6EBA-E640-7C673001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F3237425-D3A1-C61B-2C53-5686F683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9C3537D7-FA97-643C-A3AE-E34FA7EB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003B2ECC-1484-BFE6-7B9D-11C1BC44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3361B713-DA77-10B9-A687-1D2648C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1BB85CCA-6935-AD28-8D58-E6F058B5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ECB25BFA-8EED-A1CC-B5FB-D93D589F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4990E04E-D57B-D175-BBB8-26F81DAA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BD6B8225-2A81-901A-AFE2-6C4934A0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A833F5E4-357F-260D-F5F4-7B17B46C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18495C1-04CD-2622-03E6-2C003377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Рабочий прототип</a:t>
            </a:r>
          </a:p>
        </p:txBody>
      </p:sp>
      <p:sp>
        <p:nvSpPr>
          <p:cNvPr id="34" name="Прямоугольник: скругленные углы 33">
            <a:extLst xmlns:a="http://schemas.openxmlformats.org/drawingml/2006/main">
              <a:ext uri="{FF2B5EF4-FFF2-40B4-BE49-F238E27FC236}">
                <a16:creationId xmlns:a16="http://schemas.microsoft.com/office/drawing/2014/main" id="{A8515288-D36C-7503-11A5-D6602490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1320800"/>
            <a:ext cx="7072745" cy="444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5875">
            <a:solidFill>
              <a:srgbClr val="9FB3C8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Прямоугольник: скругленные углы 39">
            <a:extLst xmlns:a="http://schemas.openxmlformats.org/drawingml/2006/main">
              <a:ext uri="{FF2B5EF4-FFF2-40B4-BE49-F238E27FC236}">
                <a16:creationId xmlns:a16="http://schemas.microsoft.com/office/drawing/2014/main" id="{0D47CA82-D99E-75E6-8E9D-75D92990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20800"/>
            <a:ext cx="3657600" cy="444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0F1B3D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8CD6B02-9A64-74F6-3F56-1AADBD92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254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7FE3C4"/>
                </a:solidFill>
                <a:latin typeface="Arial Black"/>
                <a:ea typeface="Arial Black"/>
                <a:cs typeface="Arial Black"/>
              </a:rPr>
              <a:t>MVP</a:t>
            </a:r>
            <a:endParaRPr sz="2400">
              <a:solidFill>
                <a:srgbClr val="7FE3C4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D7E5ABA-3DEC-CBAB-E980-B1DC8764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520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ЧТО УЖЕ РАБОТАЕТ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2BA1FE16-3F36-72E8-0F5C-09E6BEA6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3800"/>
            <a:ext cx="304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Импорт, аналитика, бюджет и обновления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46E8EBB8-DF49-7ADF-F234-28D22DD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820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ЧТО ПОКАЖЕМ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40096BCB-59EF-F856-3055-CE5A5F7E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6800"/>
            <a:ext cx="304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Покупку на 12 000 ₽ и изменение лимита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FA4F98D3-F880-70C0-A74F-ECBAAD16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2120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7FE3C4"/>
                </a:solidFill>
                <a:latin typeface="Arial"/>
                <a:ea typeface="Arial"/>
                <a:cs typeface="Arial"/>
              </a:rPr>
              <a:t>СЦЕНАРИЙ ВЖИВУЮ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B55D7719-9690-932A-E36A-42C4FD4B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9800"/>
            <a:ext cx="304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Две вкладки: лаборатория и обзор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48543adab4608"/>
          <a:stretch xmlns:a="http://schemas.openxmlformats.org/drawingml/2006/main"/>
        </p:blipFill>
        <p:spPr>
          <a:xfrm xmlns:a="http://schemas.openxmlformats.org/drawingml/2006/main">
            <a:off x="716168" y="1514475"/>
            <a:ext cx="6854413" cy="385762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B4ACB6-44CC-4DD1-AC26-2A04D703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Скриншот работающего приложения на синтетических данных симулятора</a:t>
            </a:r>
          </a:p>
        </p:txBody>
      </p:sp>
    </p:spTree>
    <p:extLst>
      <p:ext uri="{BB962C8B-B14F-4D97-AF65-F5344CB8AC3E}">
        <p14:creationId xmlns:p14="http://schemas.microsoft.com/office/powerpoint/2010/main" val="19538511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152A8FA-2092-457E-3280-3F68053C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FE09DBC5-86BA-CA7B-2FAA-857961E5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FF3B09AB-9174-D36B-951F-5C706CE7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63194180-8BE1-D5BD-8659-13109488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9756EB55-DFA5-69A2-6A44-E3D91E82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8C1280D-3E4D-D2E4-F2EE-5ABC6ACC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70CCD9BB-18A0-B425-294B-166D052B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06DC5417-1371-6668-54DE-446A5996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D9A64FA6-02B6-B0DF-020D-36FBFC1E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AC1FB737-E6A6-3C01-22EE-D76FC4CA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C3C57E28-9357-12D3-9259-E0BAAF2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688EE07-F4D7-3AE7-5F68-E6BCC330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6B8E5EFE-4E84-5878-0732-D0FAA929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F4097696-C1ED-35D4-C464-9738C075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4F066E6A-3459-2031-85D2-E432C766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8644A8A-6295-B751-6ACC-9E07915F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1EFFE68-616E-7D84-F880-EFEFB242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A0FB814B-4E09-E75A-6102-57A51BA6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0FC6135C-9645-7B9A-9014-6F90AC7C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C6947C61-E56F-985B-4461-EF2C55DB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16DEC0BD-98BF-8DB4-8D65-F27844B8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FB831DAA-56ED-AAD2-DACA-154B00A1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E97A4B78-6E10-BD17-DE81-976DCE8C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1613DB59-F43B-7790-BF71-3B939508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710EC174-52C4-0825-9E4F-9E6669D7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E71E1B4E-F208-7713-C571-EE532F36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5197D6AD-55AB-BD54-74D3-0333A347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5D705E6F-070E-151D-32D5-28FE5FAD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48073DBB-3E53-5907-92C9-666649EB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200"/>
            <a:ext cx="1041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1D40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121D40"/>
                </a:solidFill>
                <a:latin typeface="Arial Black"/>
                <a:ea typeface="Arial Black"/>
                <a:cs typeface="Arial Black"/>
              </a:rPr>
              <a:t>Альтернативы и фокус finly</a:t>
            </a:r>
          </a:p>
        </p:txBody>
      </p:sp>
      <p:graphicFrame>
        <p:nvGraphicFramePr>
          <p:cNvPr id="68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191000"/>
                <a:gridCol w="4591050"/>
              </a:tblGrid>
              <a:tr h="8429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Решение</a:t>
                      </a:r>
                    </a:p>
                  </a:txBody>
                  <a:tcPr marL="91440" marR="91440" marT="45720" marB="45720">
                    <a:solidFill>
                      <a:srgbClr val="121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Возможности</a:t>
                      </a:r>
                    </a:p>
                  </a:txBody>
                  <a:tcPr marL="91440" marR="91440" marT="45720" marB="45720">
                    <a:solidFill>
                      <a:srgbClr val="121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 фокус</a:t>
                      </a:r>
                    </a:p>
                  </a:txBody>
                  <a:tcPr marL="91440" marR="91440" marT="45720" marB="45720">
                    <a:solidFill>
                      <a:srgbClr val="121D40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Дзен-мани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Учёт и планирование бюджета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Студенческий сценарий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до следующего поступления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CoinKeeper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Учёт расходов и лимиты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по категориям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Реакция дневного бюджета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на новую операцию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finly MVP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Выписки, учебный банк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и расчёт бюджета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 востребованность</a:t>
                      </a:r>
                    </a:p>
                    <a:p>
                      <a:r>
                        <a:rPr sz="1725" b="0">
                          <a:solidFill>
                            <a:srgbClr val="121D40"/>
                          </a:solidFill>
                          <a:latin typeface="Arial"/>
                          <a:ea typeface="Arial"/>
                          <a:cs typeface="Arial"/>
                        </a:rPr>
                        <a:t>на студенческой аудитории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7E8265-9AA8-4721-BC42-B8579E05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Гипотеза отличия: удобство сценария для студента со смешанным доходом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5AD417-0E82-4721-B9F0-A2DD62CB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Преимущество и готовность платить ещё предстоит проверить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23634235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863C7C5-F112-A241-5555-A9972866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762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20">
                <a:solidFill>
                  <a:srgbClr val="6B7892"/>
                </a:solidFill>
                <a:latin typeface="Arial"/>
                <a:ea typeface="Arial"/>
                <a:cs typeface="Arial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057A4F-FFC5-0531-4AA1-25362CF2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30200"/>
            <a:ext cx="142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 spc="100">
                <a:solidFill>
                  <a:srgbClr val="6B7892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DACF34C2-D1B4-9836-CF8A-D877CA27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2E3DB0D1-4317-1EB8-9D87-AA8E74AE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5F03C2C8-B464-ABE3-3804-7E306DB4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62689A18-A8BD-5F85-C350-770D38D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E75A7A9-BA9F-7300-AC15-2AE5737F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EF7ED531-5407-5F75-B6FD-A9455442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5588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0E74FF39-FE56-18EC-28B5-4A1900D7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3CCCBF7B-A2D3-B372-2F50-2A8E5AA9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99DA643B-33CB-EA2F-7E8D-5B8EC797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765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5453158D-4AA3-0E95-5889-07E88E08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5765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2075B89D-0A53-190A-B764-C34C241C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6E740332-4E8D-6217-99D2-C72C1101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943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F95514AB-DA45-AC4B-83BB-7049037B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5943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DC9D1794-E6EA-BE16-F559-20DC4F6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DEB048D5-3BB3-F546-4FD5-EFD68169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121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F655959D-B556-8E3A-EAE1-26441E39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C1CA9D4B-4C85-A36B-6140-D126A6E3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6299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382C7C1B-F4AE-5BE5-E24D-BE1A71D8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96D0FE89-E0A7-D1DF-6CFC-40163D23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6477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2D1D948-A0B7-7356-2057-716CAD2B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4FBD34DD-523E-1972-4FC0-96A2D5C1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6654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2AE3E6BB-ED01-DA81-D7C3-1CFB4FB5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BB6E3A25-CE80-CA94-B735-114B1737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6832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C44B231D-2F79-EEC3-FDF0-4B5CBE08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7F791778-8DF6-41F9-3372-1DE070DA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7010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3C474C6F-85D8-C3A1-5B65-AC347069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D556F8C2-7A93-3C60-6261-A119BA05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7188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47695848-2C3B-5FDC-EA20-A1BF5BF9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7366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889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0EB5353-F6CE-0869-F7DA-127DD7F8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200"/>
            <a:ext cx="1041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0F1B3D"/>
                </a:solidFill>
                <a:latin typeface="Arial Black"/>
                <a:ea typeface="Arial Black"/>
                <a:cs typeface="Arial Black"/>
              </a:rPr>
              <a:t>Развитие проекта</a:t>
            </a:r>
          </a:p>
        </p:txBody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A986C90C-CA47-46C7-9E77-8C12CFDD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905000"/>
            <a:ext cx="10414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Овал 34">
            <a:extLst xmlns:a="http://schemas.openxmlformats.org/drawingml/2006/main">
              <a:ext uri="{FF2B5EF4-FFF2-40B4-BE49-F238E27FC236}">
                <a16:creationId xmlns:a16="http://schemas.microsoft.com/office/drawing/2014/main" id="{3BBDDE2D-D02D-BBAE-4CF7-70F75971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778000"/>
            <a:ext cx="254000" cy="254000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Прямоугольник: скругленные углы 35">
            <a:extLst xmlns:a="http://schemas.openxmlformats.org/drawingml/2006/main">
              <a:ext uri="{FF2B5EF4-FFF2-40B4-BE49-F238E27FC236}">
                <a16:creationId xmlns:a16="http://schemas.microsoft.com/office/drawing/2014/main" id="{4E202490-797A-8B50-DE75-671C4A4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521710" cy="3479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C1C3D01-4565-CC40-1A1D-6E905D29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565400"/>
            <a:ext cx="296291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01  ХАКАТОН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64D8A359-52A2-D002-4C89-698F5976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946400"/>
            <a:ext cx="296291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Рабочий MVP</a:t>
            </a:r>
            <a:endParaRPr b="1">
              <a:solidFill>
                <a:srgbClr val="0F1B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DA6B724A-0803-6903-B2FA-805287FB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3810000"/>
            <a:ext cx="296291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Импорт выписок, учебный банк, бюджет, события и объяснения</a:t>
            </a:r>
          </a:p>
        </p:txBody>
      </p:sp>
      <p:sp>
        <p:nvSpPr>
          <p:cNvPr id="40" name="Овал 39">
            <a:extLst xmlns:a="http://schemas.openxmlformats.org/drawingml/2006/main">
              <a:ext uri="{FF2B5EF4-FFF2-40B4-BE49-F238E27FC236}">
                <a16:creationId xmlns:a16="http://schemas.microsoft.com/office/drawing/2014/main" id="{903968FD-882B-E7D6-11F8-2F37A233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510" y="1778000"/>
            <a:ext cx="254000" cy="254000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Прямоугольник: скругленные углы 40">
            <a:extLst xmlns:a="http://schemas.openxmlformats.org/drawingml/2006/main">
              <a:ext uri="{FF2B5EF4-FFF2-40B4-BE49-F238E27FC236}">
                <a16:creationId xmlns:a16="http://schemas.microsoft.com/office/drawing/2014/main" id="{680C7A71-F7E4-FD06-CC74-B19745CE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510" y="2286000"/>
            <a:ext cx="3521710" cy="3479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2FABF28-7B82-8842-4F45-E6B40DC1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10" y="2565400"/>
            <a:ext cx="296291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02  БЛИЖАЙШИЙ ЭТАП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30069D35-8C66-02ED-750A-40AD0E4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10" y="2946400"/>
            <a:ext cx="296291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Пилот со студентами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89421FBE-0DE8-BA50-AD7F-171A7115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10" y="3810000"/>
            <a:ext cx="296291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Проверить понятность лимита, повторное использование и готовность платить за автоматизацию</a:t>
            </a:r>
          </a:p>
        </p:txBody>
      </p:sp>
      <p:sp>
        <p:nvSpPr>
          <p:cNvPr id="45" name="Овал 44">
            <a:extLst xmlns:a="http://schemas.openxmlformats.org/drawingml/2006/main">
              <a:ext uri="{FF2B5EF4-FFF2-40B4-BE49-F238E27FC236}">
                <a16:creationId xmlns:a16="http://schemas.microsoft.com/office/drawing/2014/main" id="{00F86E36-DAE0-BFF2-354D-7B807A91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0" y="1778000"/>
            <a:ext cx="254000" cy="254000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Прямоугольник: скругленные углы 45">
            <a:extLst xmlns:a="http://schemas.openxmlformats.org/drawingml/2006/main">
              <a:ext uri="{FF2B5EF4-FFF2-40B4-BE49-F238E27FC236}">
                <a16:creationId xmlns:a16="http://schemas.microsoft.com/office/drawing/2014/main" id="{C347244A-AC82-DC48-7311-A94C4635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420" y="2286000"/>
            <a:ext cx="3521710" cy="3479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CE6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E7D0AC93-A645-23C6-3909-CF969B1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820" y="2565400"/>
            <a:ext cx="296291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AC90"/>
                </a:solidFill>
                <a:latin typeface="Arial"/>
                <a:ea typeface="Arial"/>
                <a:cs typeface="Arial"/>
              </a:defRPr>
            </a:pPr>
            <a:r>
              <a:rPr sz="1200" b="1" spc="150">
                <a:solidFill>
                  <a:srgbClr val="08AC90"/>
                </a:solidFill>
                <a:latin typeface="Arial"/>
                <a:ea typeface="Arial"/>
                <a:cs typeface="Arial"/>
              </a:rPr>
              <a:t>03  ПОСЛЕ ПРОВЕРКИ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2BA285FE-1752-EF37-1BD5-E49344F1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820" y="2946400"/>
            <a:ext cx="296291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D40"/>
                </a:solidFill>
                <a:latin typeface="Arial"/>
                <a:ea typeface="Arial"/>
                <a:cs typeface="Arial"/>
              </a:rPr>
              <a:t>Партнёрства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EAD3F2C1-D63A-E826-311A-F1EFF3A2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820" y="3810000"/>
            <a:ext cx="296291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Обсудить интеграции с банками и вузами. Доработать авторизацию и защиту данных.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886F216C-A989-2F3A-4D24-AD727A27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9C"/>
                </a:solidFill>
                <a:latin typeface="Arial"/>
                <a:ea typeface="Arial"/>
                <a:cs typeface="Arial"/>
              </a:rPr>
              <a:t>Следующие этапы зависят от результатов пилота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32D9E7-C658-4F5A-AAA9-4264B472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D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D40"/>
                </a:solidFill>
                <a:latin typeface="Arial"/>
                <a:ea typeface="Arial"/>
                <a:cs typeface="Arial"/>
              </a:rPr>
              <a:t>Модель дохода для проверки: Free с импортом, Pro с автоматизацией. Оплата в MVP не подключена.</a:t>
            </a:r>
          </a:p>
        </p:txBody>
      </p:sp>
    </p:spTree>
    <p:extLst>
      <p:ext uri="{BB962C8B-B14F-4D97-AF65-F5344CB8AC3E}">
        <p14:creationId xmlns:p14="http://schemas.microsoft.com/office/powerpoint/2010/main" val="15318198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ackground">
            <a:extLst xmlns:a="http://schemas.openxmlformats.org/drawingml/2006/main">
              <a:ext uri="{FF2B5EF4-FFF2-40B4-BE49-F238E27FC236}">
                <a16:creationId xmlns:a16="http://schemas.microsoft.com/office/drawing/2014/main" id="{83D4B053-CF93-4E4D-8BFF-AA481528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BB3B56-ACC5-250E-53C8-EF40C631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 И ИТОГ   ·   13 / 13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49B7AF94-DFC6-FF6D-726E-CD589C97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3810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621976D-FC1E-6A5D-B1B8-3F71DC64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3810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A4EC5174-99A7-642D-C063-65478A67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3810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93FBB3D-4148-00AE-CFAA-20B8873E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3810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20D6A5E9-FD67-8D6A-BB61-8C6A8EC6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3810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E2E8D802-6D3E-810A-B315-11F93EFF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38100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F8B587BF-E332-2788-E727-46979D46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3987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566CBE84-041A-CC16-9999-BEE9B8B8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3987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B53AFE4E-C62C-F38F-45DA-8B666D3E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3987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270B84A8-92DE-1811-3312-340ECF1A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39878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04F5979-812C-9F8E-4EDF-5203C2E8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4165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834610C-7E31-DB69-83D1-F00743E2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41656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8DF7A76C-1F97-AB0F-4C80-687CBCDB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4165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ADE14151-28BA-DB18-F7F8-B0B0FFC4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4343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0A3E37C-6735-A0AD-0973-F9565E5D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4343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BD1CED8-919C-3F6D-9221-7A983B8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800" y="4521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4CC2210E-B005-10C5-E21D-1FB2B35E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60" y="4521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3E09B1D6-4292-2364-1C62-FE93E62F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71580" y="4699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F8D48C0B-CDAD-DC15-0391-3E660F79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9380" y="4699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BC132612-6BE5-7A4C-4E2E-8639464B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9360" y="4876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236E3073-2B60-8250-7611-00A894DE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1600" y="48768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B164DDA8-5D7F-6601-6F7A-9E3EF5F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140" y="5054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02274A8F-E227-4A83-A619-7B189F95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0" y="50546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5FB34A0-B3B5-E9C4-37FC-161C4868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4920" y="5232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3BD10591-24F1-0A44-028E-83EF0D90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040" y="52324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FBC376AA-9E27-6EDC-5566-0CDD3C3A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700" y="5410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603D9F25-F3BE-4B99-8C7D-7777B031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8260" y="541020"/>
            <a:ext cx="1778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3AC60D43-0DA9-477E-906D-CA7191F1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0480" y="558800"/>
            <a:ext cx="17781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Прямоугольник: скругленные углы 32">
            <a:extLst xmlns:a="http://schemas.openxmlformats.org/drawingml/2006/main">
              <a:ext uri="{FF2B5EF4-FFF2-40B4-BE49-F238E27FC236}">
                <a16:creationId xmlns:a16="http://schemas.microsoft.com/office/drawing/2014/main" id="{70C9F536-168F-D36E-CF6B-C96E33DC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800"/>
            <a:ext cx="53340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 cmpd="sng">
            <a:solidFill>
              <a:srgbClr val="FFFFFF">
                <a:alpha val="6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C841CE1-D276-5F00-2456-5C100EAE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472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79FE3A2-1542-12FA-C953-5AC6A5E5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208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Покупка в симуляторе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пересчёт дневного бюджета</a:t>
            </a:r>
          </a:p>
        </p:txBody>
      </p:sp>
      <p:sp>
        <p:nvSpPr>
          <p:cNvPr id="36" name="Прямоугольник: скругленные углы 35">
            <a:extLst xmlns:a="http://schemas.openxmlformats.org/drawingml/2006/main">
              <a:ext uri="{FF2B5EF4-FFF2-40B4-BE49-F238E27FC236}">
                <a16:creationId xmlns:a16="http://schemas.microsoft.com/office/drawing/2014/main" id="{21499B41-41FE-FD78-74D7-BE8E095F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812800"/>
            <a:ext cx="53340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 cmpd="sng">
            <a:solidFill>
              <a:srgbClr val="FFFFFF">
                <a:alpha val="6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BFFB5319-F724-977F-F91D-8FD78133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066800"/>
            <a:ext cx="472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ГЛАВНАЯ МЫСЛЬ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543675E-4B33-3568-AC61-FCCB01A9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208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 понимает, сколько может потратить сегодня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8B2D5842-5EDC-F00F-6188-651F6D1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7400"/>
            <a:ext cx="109728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0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Спасибо за внимание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6F9A288-DB04-463F-F2D7-B15A6648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94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 показать продукт и ответить на вопросы.</a:t>
            </a:r>
          </a:p>
        </p:txBody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5C32CE8F-A682-483E-B2F8-D4D548A5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022B931-FFB3-186E-74FF-087D071A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355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ПРОТОТИП</a:t>
            </a:r>
            <a:endParaRPr sz="900" b="1" spc="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65E33332-9C32-FF39-8B48-B5284EDC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Локальный MVP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A3C234E-D325-A7F5-C621-48006AF3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62600"/>
            <a:ext cx="355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АУДИТОРИЯ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81660A35-FF16-5CE1-0A9A-8888FE31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912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Студенты 18–25 лет</a:t>
            </a:r>
            <a:endParaRPr sz="15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4A8F26D-5073-2CB1-A055-7C11DCEB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62600"/>
            <a:ext cx="355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55DA0842-E91F-4FAA-A543-BAA6D618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912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Рыбы дипсика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6A2864A-8291-0FCD-87F7-6AD29F68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0000"/>
            <a:ext cx="109728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Стартап-хакатон «Пятый элемент» 2026 · 26–27 сентября · СФУ</a:t>
            </a:r>
          </a:p>
        </p:txBody>
      </p:sp>
      <p:pic>
        <p:nvPicPr>
          <p:cNvPr id="96" name="Рисунок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9980414d14f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01240" y="73047"/>
            <a:ext cx="6595920" cy="6870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70327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2026-09-27T03:13:35.6060000Z</dcterms:created>
  <dcterms:modified xsi:type="dcterms:W3CDTF">2026-09-27T03:13:35.6060000Z</dcterms:modified>
</coreProperties>
</file>