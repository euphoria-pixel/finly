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Максим, 15 секунд. Представляем finly, финансового помощника для студента. Главный вопрос продукта: сколько можно потратить сегодня, чтобы денег хватило до следующего поступления. Команда «Рыбы дипсика».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Проблема: одна конкретная проблема. Кто сталкивается, что происходит, почему это важно.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762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Максим, 25 секунд. Проблема проекта: распределить имеющиеся деньги до следующего поступления при смешанном доходе. Описываем продуктовую гипотезу, а не результаты проведённых интервью. Источник: предоставленный командой Word-документ.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Максим, 20 секунд. Наш стартовый сегмент — студенты со стипендией и подработкой. Проверка востребованности и готовности платить — следующий этап. Оценка 2–2,5 млн из исходных материалов не используется как доказанный размер рынка.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Максим, 25 секунд. Начать можно с импорта выписки. CSV разбирает локальный сервер. Для PDF пользователь проверяет очищенный текст и разрешает обработку моделью. До подтверждения строки не попадают в историю операций.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Пётр, 25 секунд. Это арифметический пример, а не измеренный результат пользователей. Из остатка вычитаем платежи и резерв, делим на дни. Холды тоже уменьшают доступный бюджет. Пользовательский лимит может ограничить результат. Расчёты в backend/budget.py.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Павел, 20 секунд. Эти возможности реализованы в локальном MVP. Интерфейс на Next.js и React, backend на FastAPI, база приложения SQLite. Источники: backend/app.py, frontend/finly/App.tsx.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Пётр, 25 секунд. Ключевой сценарий — реакция бюджета на конкретную покупку. SSE доставляет событие в браузер, затем интерфейс запрашивает свежий снимок. Модель выбирает разделы объяснения, а суммы подставляет сервер. Это фокус продукта, без заявления об отсутствии аналогов.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Пётр, 30 секунд. POST /auth/login получает токен. GET /accounts возвращает счета. По каждому счёту запрашиваются /transactions и /balances. Повторная синхронизация не дублирует историю. Банк опрашиваем по HTTP, браузеру отправляем SSE. Покупки лаборатории создаются в отдельном симуляторе, а не в банке. Источник: backend/bank_in_a_box.py, backend/app.py.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Павел, 90 секунд на живую демонстрацию. Открыть обзор и лабораторию в двух вкладках с источником «Учебный банк + симулятор». Запомнить остаток, создать проведённый расход 12 000 ₽, показать изменение бюджета без перезагрузки. Уведомления зависят от настроек и порогов. При сбое показать этот скриншот и CSV-импорт. Скриншот: локальный finly, синтетический профиль, 27 сентября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Максим, 25 секунд. У существующих приложений уже есть планирование. Мы проверяем более узкий сценарий студентов со смешанным доходом. Не заявляем отсутствие аналогов. Источники возможностей: https://support.zenmoney.ru/knowledge-bases/2-baza-znanij/categories/55-planirovanie-byudzheta/articles ; https://about.coinkeeper.me/24674569 . Проверено 27 сентября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Максим, 25 секунд. Ближайший шаг — пилот со студентами. Смотрим на понятность бюджета и повторное использование, затем проверяем готовность платить. Банковские и вузовские партнёрства — гипотеза развития, а не заключённые соглашения.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Демо и итог: что покажете, главная мысль, ссылки и контакты.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785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E305C-18B6-7E00-3B5D-A4FD0D06C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567583-AC7F-98D2-866C-56CEA1BDE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8F5614-181C-D044-02A3-C2BE391655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B3438E-1A34-46F5-B5CF-CCFE10C1B9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EE0F89-3AB9-30E1-49AF-A37AD193D6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AF1F4-A727-1C45-3B64-D40802C4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BBFB0E-D223-5021-7775-B006BB926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3AE310-4CBE-724F-F786-AFD12F4792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4E3C85-665C-510D-FA28-E4B1949A19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297710-875B-5061-3DDC-527448E564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BDE8B-1CF8-6BF9-81A7-A98112EF8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7ED05F-8929-018E-1DFC-8FC8C616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ED77BE-700E-356E-599B-56B30D73B2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8E8FD8-C893-DB9C-650A-729979AE41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AC8EA9-06C3-BDF8-7C42-3A49F8F3F5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64489-B1A9-984F-074F-CD844153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CCCDE-942A-455B-AF3D-6D027939E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DAAEFF-656C-3263-2290-96E0D8DB50A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FDB474-6751-96FB-52B3-0F30EB1502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BA0C64-CFD4-D141-4E51-E2AD453B126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48D041-DF94-D082-DF7A-8890505337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7F3EC-2FC5-AA48-B1B4-86D8832BC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8B901E-AE9A-667A-03F5-3F881849C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52DC7F-30EC-2966-0C3A-013BD15ABE3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C5E9BA-6252-95BE-0B0D-6C0B8A11E43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860277-2100-397C-9821-49B2EDFF057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B2A468C-875F-4445-CB92-93A9296705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0284B1-DF17-BB89-334E-CD3815CBE5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B94957-FC2C-8A8D-9561-D86254A37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A095E-D55B-3424-6D58-6A04A90A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CE2FAD-FFDB-59AD-95FB-673BBD1ED38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FBB7B6-BDB8-0C68-B7DA-4562801938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1CD6F6-D65F-43A5-8E83-B7B84900C3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66D885-A56B-0B8B-C537-662C8EC06B9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62A9FC-7FA6-FECC-D4BD-DD4A95139A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0BA402-5960-35FE-A898-2C3623A1FC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C581E-E972-4CCC-EF47-471611398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A25741-3055-87B6-956C-115D2110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00B337-1B33-624C-0E4A-5BB23AFB62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C2ACF9-496B-0B21-49CE-7C566465A5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30CF12-914A-D04D-0AC6-A9E84E0466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A7594E-72A1-F2CF-8275-BF139E78B9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87DF0-048F-0D16-4709-A8D940E7D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9414BD-694D-B821-A34F-71AEFBFD2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DE5889-E568-6880-64F2-5C40A6A319B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BF94E9-9729-16D2-8892-0D74303A1A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D26B6D-45C5-ECC3-1199-02EE20FB5F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08D26A-46BE-8496-502C-8496B7FD4E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5B07F-A3B3-1C9E-5EA5-D7640274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A48EA8-1667-66BD-F0CE-3F90725FB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9C5788-BB16-A6B5-9F93-B9857008D1E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198970-53E1-C079-427C-7C526192D03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6CA188-641D-343D-15B2-1F0FF643A4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F97BBB-BFAE-CBF1-8528-70CC1782D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96A28C-B17B-E607-8E6D-4937AE9BA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57172C-4C47-3DA4-5914-59386D34E4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3B242A-AE74-A0C6-0442-C69E6062D4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B74E61-0930-1A81-60FF-6D9D04251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D1FC60-0A4C-4A19-8ADA-B8EF6A7348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42B20-BE31-AF6C-2C9D-614456C5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6613A3-0AD0-0F08-6A40-91ACF78FC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8333F3-AE5F-A7E2-C8CA-3A7F18E62C4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468CFE-C60D-CE22-031D-506F1959A2D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C6BCC1-C359-0165-F531-CA225DA174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1FC60-0A4C-4A19-8ADA-B8EF6A73481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D798558-6B15-7D10-CE66-4697C62B8B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FA1CEAC-814B-AF91-570B-D6766736A7AB}"/>
              </a:ext>
            </a:extLst>
          </p:cNvPr>
          <p:cNvSpPr>
            <a:spLocks noGrp="1"/>
          </p:cNvSpPr>
          <p:nvPr/>
        </p:nvSpPr>
        <p:spPr>
          <a:xfrm>
            <a:off x="10210800" y="19050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F8E8D76-80CE-C3B5-1EFA-6CD447A904D0}"/>
              </a:ext>
            </a:extLst>
          </p:cNvPr>
          <p:cNvSpPr>
            <a:spLocks noGrp="1"/>
          </p:cNvSpPr>
          <p:nvPr/>
        </p:nvSpPr>
        <p:spPr>
          <a:xfrm>
            <a:off x="10299700" y="19050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1245EAC-1941-3FE8-01CE-EEF603530E59}"/>
              </a:ext>
            </a:extLst>
          </p:cNvPr>
          <p:cNvSpPr>
            <a:spLocks noGrp="1"/>
          </p:cNvSpPr>
          <p:nvPr/>
        </p:nvSpPr>
        <p:spPr>
          <a:xfrm>
            <a:off x="10388600" y="19050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8189630-6144-42B0-36A7-1C181D098375}"/>
              </a:ext>
            </a:extLst>
          </p:cNvPr>
          <p:cNvSpPr>
            <a:spLocks noGrp="1"/>
          </p:cNvSpPr>
          <p:nvPr/>
        </p:nvSpPr>
        <p:spPr>
          <a:xfrm>
            <a:off x="10744200" y="19050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6D51848-8B4A-B5CA-F151-8F1116855262}"/>
              </a:ext>
            </a:extLst>
          </p:cNvPr>
          <p:cNvSpPr>
            <a:spLocks noGrp="1"/>
          </p:cNvSpPr>
          <p:nvPr/>
        </p:nvSpPr>
        <p:spPr>
          <a:xfrm>
            <a:off x="10833100" y="19050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61E5F4B-1594-8BA9-2D71-5DFCDC779254}"/>
              </a:ext>
            </a:extLst>
          </p:cNvPr>
          <p:cNvSpPr>
            <a:spLocks noGrp="1"/>
          </p:cNvSpPr>
          <p:nvPr/>
        </p:nvSpPr>
        <p:spPr>
          <a:xfrm>
            <a:off x="10922000" y="19050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17ABEF9-5953-E769-13F2-FF8A50CFD467}"/>
              </a:ext>
            </a:extLst>
          </p:cNvPr>
          <p:cNvSpPr>
            <a:spLocks noGrp="1"/>
          </p:cNvSpPr>
          <p:nvPr/>
        </p:nvSpPr>
        <p:spPr>
          <a:xfrm>
            <a:off x="10121900" y="19939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1D3610A-31F2-1B47-FA1A-77F0A6E70DD5}"/>
              </a:ext>
            </a:extLst>
          </p:cNvPr>
          <p:cNvSpPr>
            <a:spLocks noGrp="1"/>
          </p:cNvSpPr>
          <p:nvPr/>
        </p:nvSpPr>
        <p:spPr>
          <a:xfrm>
            <a:off x="10477500" y="19939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F5216EC-6B81-6A80-90E1-27667758B0A6}"/>
              </a:ext>
            </a:extLst>
          </p:cNvPr>
          <p:cNvSpPr>
            <a:spLocks noGrp="1"/>
          </p:cNvSpPr>
          <p:nvPr/>
        </p:nvSpPr>
        <p:spPr>
          <a:xfrm>
            <a:off x="10655300" y="19939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C3D8D8D-2945-51A5-2238-627FEB5FAD56}"/>
              </a:ext>
            </a:extLst>
          </p:cNvPr>
          <p:cNvSpPr>
            <a:spLocks noGrp="1"/>
          </p:cNvSpPr>
          <p:nvPr/>
        </p:nvSpPr>
        <p:spPr>
          <a:xfrm>
            <a:off x="11010900" y="19939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82430AD-E22B-DBDA-1796-B8C685A46A1F}"/>
              </a:ext>
            </a:extLst>
          </p:cNvPr>
          <p:cNvSpPr>
            <a:spLocks noGrp="1"/>
          </p:cNvSpPr>
          <p:nvPr/>
        </p:nvSpPr>
        <p:spPr>
          <a:xfrm>
            <a:off x="10033000" y="20828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5CCEE16-614A-B946-A381-0F431296166B}"/>
              </a:ext>
            </a:extLst>
          </p:cNvPr>
          <p:cNvSpPr>
            <a:spLocks noGrp="1"/>
          </p:cNvSpPr>
          <p:nvPr/>
        </p:nvSpPr>
        <p:spPr>
          <a:xfrm>
            <a:off x="10566400" y="20828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AEABE84-F213-036B-9222-E3AFE7C3C1DA}"/>
              </a:ext>
            </a:extLst>
          </p:cNvPr>
          <p:cNvSpPr>
            <a:spLocks noGrp="1"/>
          </p:cNvSpPr>
          <p:nvPr/>
        </p:nvSpPr>
        <p:spPr>
          <a:xfrm>
            <a:off x="11099800" y="20828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C178A37-7D81-B3EF-5F22-32422BBFA4D6}"/>
              </a:ext>
            </a:extLst>
          </p:cNvPr>
          <p:cNvSpPr>
            <a:spLocks noGrp="1"/>
          </p:cNvSpPr>
          <p:nvPr/>
        </p:nvSpPr>
        <p:spPr>
          <a:xfrm>
            <a:off x="10033000" y="21717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5776D77-A9A4-12C6-265B-2BE2BC402BD9}"/>
              </a:ext>
            </a:extLst>
          </p:cNvPr>
          <p:cNvSpPr>
            <a:spLocks noGrp="1"/>
          </p:cNvSpPr>
          <p:nvPr/>
        </p:nvSpPr>
        <p:spPr>
          <a:xfrm>
            <a:off x="11099800" y="21717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9AD5CC5-4D2A-2B92-CF1D-C952643367BC}"/>
              </a:ext>
            </a:extLst>
          </p:cNvPr>
          <p:cNvSpPr>
            <a:spLocks noGrp="1"/>
          </p:cNvSpPr>
          <p:nvPr/>
        </p:nvSpPr>
        <p:spPr>
          <a:xfrm>
            <a:off x="10033000" y="22606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C586510-8E90-5384-640D-AA17F0AF32F5}"/>
              </a:ext>
            </a:extLst>
          </p:cNvPr>
          <p:cNvSpPr>
            <a:spLocks noGrp="1"/>
          </p:cNvSpPr>
          <p:nvPr/>
        </p:nvSpPr>
        <p:spPr>
          <a:xfrm>
            <a:off x="11099800" y="22606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BD3A775-A60D-3972-6324-973BF975DC07}"/>
              </a:ext>
            </a:extLst>
          </p:cNvPr>
          <p:cNvSpPr>
            <a:spLocks noGrp="1"/>
          </p:cNvSpPr>
          <p:nvPr/>
        </p:nvSpPr>
        <p:spPr>
          <a:xfrm>
            <a:off x="10121900" y="23495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A4F7047-8026-440B-AE25-068CDC3DD338}"/>
              </a:ext>
            </a:extLst>
          </p:cNvPr>
          <p:cNvSpPr>
            <a:spLocks noGrp="1"/>
          </p:cNvSpPr>
          <p:nvPr/>
        </p:nvSpPr>
        <p:spPr>
          <a:xfrm>
            <a:off x="11010900" y="23495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8627609-2196-C575-F0E6-950DF9B3F6DD}"/>
              </a:ext>
            </a:extLst>
          </p:cNvPr>
          <p:cNvSpPr>
            <a:spLocks noGrp="1"/>
          </p:cNvSpPr>
          <p:nvPr/>
        </p:nvSpPr>
        <p:spPr>
          <a:xfrm>
            <a:off x="10210800" y="24384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13F1720-BEB7-0D69-8F1A-2343373AEB02}"/>
              </a:ext>
            </a:extLst>
          </p:cNvPr>
          <p:cNvSpPr>
            <a:spLocks noGrp="1"/>
          </p:cNvSpPr>
          <p:nvPr/>
        </p:nvSpPr>
        <p:spPr>
          <a:xfrm>
            <a:off x="10922000" y="24384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7DFA7CC-29DC-91CF-20D2-1EF249E7D6DB}"/>
              </a:ext>
            </a:extLst>
          </p:cNvPr>
          <p:cNvSpPr>
            <a:spLocks noGrp="1"/>
          </p:cNvSpPr>
          <p:nvPr/>
        </p:nvSpPr>
        <p:spPr>
          <a:xfrm>
            <a:off x="10299700" y="25273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348978D-58E8-3B0D-D3A6-E42FDD618FE6}"/>
              </a:ext>
            </a:extLst>
          </p:cNvPr>
          <p:cNvSpPr>
            <a:spLocks noGrp="1"/>
          </p:cNvSpPr>
          <p:nvPr/>
        </p:nvSpPr>
        <p:spPr>
          <a:xfrm>
            <a:off x="10833100" y="25273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620EAE5D-5139-E7D8-4C97-37F3B8612080}"/>
              </a:ext>
            </a:extLst>
          </p:cNvPr>
          <p:cNvSpPr>
            <a:spLocks noGrp="1"/>
          </p:cNvSpPr>
          <p:nvPr/>
        </p:nvSpPr>
        <p:spPr>
          <a:xfrm>
            <a:off x="10388600" y="26162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B5957FB-B83B-C9C8-8841-1EAF6C3378B2}"/>
              </a:ext>
            </a:extLst>
          </p:cNvPr>
          <p:cNvSpPr>
            <a:spLocks noGrp="1"/>
          </p:cNvSpPr>
          <p:nvPr/>
        </p:nvSpPr>
        <p:spPr>
          <a:xfrm>
            <a:off x="10744200" y="26162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CF85DA6-1D02-21D4-CD83-78005CA40D02}"/>
              </a:ext>
            </a:extLst>
          </p:cNvPr>
          <p:cNvSpPr>
            <a:spLocks noGrp="1"/>
          </p:cNvSpPr>
          <p:nvPr/>
        </p:nvSpPr>
        <p:spPr>
          <a:xfrm>
            <a:off x="10477500" y="27051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43689A6-AB4E-27C1-E472-0307F5FA5877}"/>
              </a:ext>
            </a:extLst>
          </p:cNvPr>
          <p:cNvSpPr>
            <a:spLocks noGrp="1"/>
          </p:cNvSpPr>
          <p:nvPr/>
        </p:nvSpPr>
        <p:spPr>
          <a:xfrm>
            <a:off x="10655300" y="27051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E3A6CD2-EBBE-ED52-926C-59C78F7B3F0B}"/>
              </a:ext>
            </a:extLst>
          </p:cNvPr>
          <p:cNvSpPr>
            <a:spLocks noGrp="1"/>
          </p:cNvSpPr>
          <p:nvPr/>
        </p:nvSpPr>
        <p:spPr>
          <a:xfrm>
            <a:off x="10566400" y="2794000"/>
            <a:ext cx="88900" cy="8890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8B6187-F359-586D-75C2-AA32D67C8532}"/>
              </a:ext>
            </a:extLst>
          </p:cNvPr>
          <p:cNvSpPr>
            <a:spLocks noGrp="1"/>
          </p:cNvSpPr>
          <p:nvPr/>
        </p:nvSpPr>
        <p:spPr>
          <a:xfrm>
            <a:off x="609600" y="1625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 b="1" spc="25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СТАРТАП-ХАКАТОН 2026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972CC023-D9A1-9F97-7CFF-6F148DC343F1}"/>
              </a:ext>
            </a:extLst>
          </p:cNvPr>
          <p:cNvSpPr>
            <a:spLocks noGrp="1"/>
          </p:cNvSpPr>
          <p:nvPr/>
        </p:nvSpPr>
        <p:spPr>
          <a:xfrm>
            <a:off x="609600" y="1930400"/>
            <a:ext cx="3810000" cy="355600"/>
          </a:xfrm>
          <a:prstGeom prst="roundRect">
            <a:avLst>
              <a:gd name="adj" fmla="val 50000"/>
            </a:avLst>
          </a:prstGeom>
          <a:noFill/>
          <a:ln w="12700" cmpd="sng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051C4D-C2D3-218E-5D63-67C041D03B02}"/>
              </a:ext>
            </a:extLst>
          </p:cNvPr>
          <p:cNvSpPr>
            <a:spLocks noGrp="1"/>
          </p:cNvSpPr>
          <p:nvPr/>
        </p:nvSpPr>
        <p:spPr>
          <a:xfrm>
            <a:off x="812800" y="1993900"/>
            <a:ext cx="3683000" cy="2286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Акселерационная программа «Пятый элемент»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CF0412-5BC6-90F9-C73E-BF2F45C3AC0B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8890000" cy="762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44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Finly</a:t>
            </a:r>
          </a:p>
          <a:p>
            <a:endParaRPr sz="4400">
              <a:solidFill>
                <a:srgbClr val="FFFFFF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7EA6F9-5630-AF1F-E9DA-3DF5F5868B56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8286750" cy="7239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sz="2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Финансовый трекер с AI ассистентом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F9118C-15BA-1E8B-1E0A-45868046F99C}"/>
              </a:ext>
            </a:extLst>
          </p:cNvPr>
          <p:cNvSpPr>
            <a:spLocks noGrp="1"/>
          </p:cNvSpPr>
          <p:nvPr/>
        </p:nvSpPr>
        <p:spPr>
          <a:xfrm>
            <a:off x="609600" y="43942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B1BE7A-32D5-3014-AC78-9EADA83AF651}"/>
              </a:ext>
            </a:extLst>
          </p:cNvPr>
          <p:cNvSpPr>
            <a:spLocks noGrp="1"/>
          </p:cNvSpPr>
          <p:nvPr/>
        </p:nvSpPr>
        <p:spPr>
          <a:xfrm>
            <a:off x="609600" y="4597400"/>
            <a:ext cx="3175000" cy="254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Рыбы дипсика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64D589-E2BB-51D1-B6F4-D7B45B50523D}"/>
              </a:ext>
            </a:extLst>
          </p:cNvPr>
          <p:cNvSpPr>
            <a:spLocks noGrp="1"/>
          </p:cNvSpPr>
          <p:nvPr/>
        </p:nvSpPr>
        <p:spPr>
          <a:xfrm>
            <a:off x="4064000" y="43942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УЧАСТНИКИ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CDCE6C-E0FC-A3CF-BC0F-EDD61BBAEB1F}"/>
              </a:ext>
            </a:extLst>
          </p:cNvPr>
          <p:cNvSpPr>
            <a:spLocks noGrp="1"/>
          </p:cNvSpPr>
          <p:nvPr/>
        </p:nvSpPr>
        <p:spPr>
          <a:xfrm>
            <a:off x="4057650" y="4629150"/>
            <a:ext cx="7239000" cy="55245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Максим Чепиков </a:t>
            </a: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– </a:t>
            </a:r>
            <a:r>
              <a:rPr lang="en-US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</a:t>
            </a:r>
            <a:r>
              <a:rPr lang="ru-RU" sz="1400" dirty="0">
                <a:solidFill>
                  <a:srgbClr val="FFFFFF"/>
                </a:solidFill>
                <a:latin typeface="Arial" panose="020B0604020202020204" pitchFamily="34" charset="0"/>
              </a:rPr>
              <a:t>·</a:t>
            </a:r>
            <a:r>
              <a:rPr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Петр</a:t>
            </a:r>
            <a:r>
              <a:rPr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Макаров</a:t>
            </a:r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- Backend</a:t>
            </a:r>
            <a:r>
              <a:rPr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</a:rPr>
              <a:t>·</a:t>
            </a:r>
            <a:r>
              <a:rPr lang="en-US" sz="1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Павел</a:t>
            </a:r>
            <a:r>
              <a:rPr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Тагиров</a:t>
            </a:r>
            <a:r>
              <a:rPr lang="en-US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- </a:t>
            </a: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Дизайн</a:t>
            </a:r>
            <a:endParaRPr sz="135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7D32DCE5-60ED-4096-A828-F2314795F00C}"/>
              </a:ext>
            </a:extLst>
          </p:cNvPr>
          <p:cNvSpPr>
            <a:spLocks noGrp="1"/>
          </p:cNvSpPr>
          <p:nvPr/>
        </p:nvSpPr>
        <p:spPr>
          <a:xfrm>
            <a:off x="609600" y="6070600"/>
            <a:ext cx="10972800" cy="0"/>
          </a:xfrm>
          <a:prstGeom prst="line">
            <a:avLst/>
          </a:prstGeom>
          <a:ln w="9525">
            <a:solidFill>
              <a:srgbClr val="FFFFFF">
                <a:alpha val="6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87" name="Рисунок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2832"/>
            <a:ext cx="10045700" cy="104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0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02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2699F8E6-E950-2849-B0B4-7F126F8DFA5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645EBB56-357A-5B5B-EAE6-54DF4B36C072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8464650-57A5-6038-3C19-ABD35C70CCE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C33F275-B5A6-CD84-C8D6-43722379BC37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46BD27B-B30F-75D8-D038-BC482E3A83E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F987744-83E3-17B7-5EEE-1E7DC335CE0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170354A-5759-6C04-3499-FF17F45AC393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D939AC5-A903-76D1-630F-41B6111A29F3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E2B040C-3D7F-9BB7-77B0-0210652FB3FE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DF23A4A-FF68-DBA0-96EE-84B0CD1B3E54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B2958C7-31FD-1CF5-A78B-6ECEB1F410B5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58F7045-378E-1F99-012A-CDF218F43DAA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A9FD4C9-8DBD-C8C7-5064-DC523830DF16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88EEC14-237A-E305-4088-2E6873D9C01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419D5A1-D3DB-DCE4-4122-CA0665D4DB36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A57463D-7DAA-FFD4-FD1B-F7D83518391C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0A296D2-2543-8641-CC43-CBA2AB99CE6E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A95BCB7-F087-60F3-5F9D-F619AAFC957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7C3DD72-1D87-E672-A3F1-E76FC17459F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F78585-866D-0E02-FFDB-F256D11A6D5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F91DB89-B1E2-9D92-EC27-7BC49DDA966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1382261-F42F-B719-73A8-CA774DFE20FA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207365F-4DAF-5588-DA13-5F816DC9369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33CFB26-3610-C0AB-C4D3-534D50F6B34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8F27330-18D8-4158-3E93-EA307EE2F0D6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225CCF48-A646-3FD2-154F-541E3C9D3C5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D980ECCD-BAE5-E230-01FA-29A01E625AF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1F641627-78AE-C00B-8C2C-082FF5070B3C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22436800-F9A7-4F14-CA87-26B24A96ADA7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 txBox="1"/>
          <p:nvPr/>
        </p:nvSpPr>
        <p:spPr>
          <a:xfrm>
            <a:off x="731520" y="65913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Команда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22CC22-D574-5FC4-E14D-44447AC146B5}"/>
              </a:ext>
            </a:extLst>
          </p:cNvPr>
          <p:cNvSpPr txBox="1"/>
          <p:nvPr/>
        </p:nvSpPr>
        <p:spPr>
          <a:xfrm>
            <a:off x="458851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ru-RU" sz="1400" dirty="0">
              <a:solidFill>
                <a:srgbClr val="0F1B3D"/>
              </a:solidFill>
              <a:latin typeface="Arial" panose="020B0604020202020204" pitchFamily="34" charset="0"/>
            </a:endParaRPr>
          </a:p>
        </p:txBody>
      </p:sp>
      <p:sp>
        <p:nvSpPr>
          <p:cNvPr id="52" name="Rounded Rectangle 1">
            <a:extLst>
              <a:ext uri="{FF2B5EF4-FFF2-40B4-BE49-F238E27FC236}">
                <a16:creationId xmlns:a16="http://schemas.microsoft.com/office/drawing/2014/main" id="{D4D756AA-C837-B03F-4F45-BF44BECFBD64}"/>
              </a:ext>
            </a:extLst>
          </p:cNvPr>
          <p:cNvSpPr/>
          <p:nvPr/>
        </p:nvSpPr>
        <p:spPr>
          <a:xfrm>
            <a:off x="4797612" y="4363408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3" name="Rounded Rectangle 2">
            <a:extLst>
              <a:ext uri="{FF2B5EF4-FFF2-40B4-BE49-F238E27FC236}">
                <a16:creationId xmlns:a16="http://schemas.microsoft.com/office/drawing/2014/main" id="{FECB1428-3F87-359A-E284-AE69EBBE9B07}"/>
              </a:ext>
            </a:extLst>
          </p:cNvPr>
          <p:cNvSpPr/>
          <p:nvPr/>
        </p:nvSpPr>
        <p:spPr>
          <a:xfrm>
            <a:off x="7535094" y="4363408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5" name="Rounded Rectangle 4">
            <a:extLst>
              <a:ext uri="{FF2B5EF4-FFF2-40B4-BE49-F238E27FC236}">
                <a16:creationId xmlns:a16="http://schemas.microsoft.com/office/drawing/2014/main" id="{2F186326-B731-9168-F371-BF3804663E4A}"/>
              </a:ext>
            </a:extLst>
          </p:cNvPr>
          <p:cNvSpPr/>
          <p:nvPr/>
        </p:nvSpPr>
        <p:spPr>
          <a:xfrm>
            <a:off x="2054412" y="4363408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6" name="TextBox 17">
            <a:extLst>
              <a:ext uri="{FF2B5EF4-FFF2-40B4-BE49-F238E27FC236}">
                <a16:creationId xmlns:a16="http://schemas.microsoft.com/office/drawing/2014/main" id="{5F034BC4-76BA-09E9-20D7-7FC497224BCB}"/>
              </a:ext>
            </a:extLst>
          </p:cNvPr>
          <p:cNvSpPr txBox="1"/>
          <p:nvPr/>
        </p:nvSpPr>
        <p:spPr>
          <a:xfrm>
            <a:off x="5035737" y="4544383"/>
            <a:ext cx="118974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dirty="0">
                <a:solidFill>
                  <a:srgbClr val="0F172A"/>
                </a:solidFill>
                <a:latin typeface="Plus Jakarta Sans"/>
              </a:rPr>
              <a:t>Макаров Петр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7" name="TextBox 18">
            <a:extLst>
              <a:ext uri="{FF2B5EF4-FFF2-40B4-BE49-F238E27FC236}">
                <a16:creationId xmlns:a16="http://schemas.microsoft.com/office/drawing/2014/main" id="{6D584166-3CBB-97ED-CA95-E93ABCCF5F89}"/>
              </a:ext>
            </a:extLst>
          </p:cNvPr>
          <p:cNvSpPr txBox="1"/>
          <p:nvPr/>
        </p:nvSpPr>
        <p:spPr>
          <a:xfrm>
            <a:off x="5035737" y="4830133"/>
            <a:ext cx="20664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rgbClr val="64748B"/>
                </a:solidFill>
                <a:latin typeface="Plus Jakarta Sans"/>
              </a:rPr>
              <a:t>Backend 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&amp; </a:t>
            </a:r>
            <a:r>
              <a:rPr lang="ru-RU" sz="1200" b="0" i="0" u="none" dirty="0">
                <a:solidFill>
                  <a:srgbClr val="64748B"/>
                </a:solidFill>
                <a:latin typeface="Plus Jakarta Sans"/>
              </a:rPr>
              <a:t>Архитектор решения</a:t>
            </a:r>
            <a:endParaRPr sz="12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58" name="TextBox 19">
            <a:extLst>
              <a:ext uri="{FF2B5EF4-FFF2-40B4-BE49-F238E27FC236}">
                <a16:creationId xmlns:a16="http://schemas.microsoft.com/office/drawing/2014/main" id="{2547A341-0057-E4A8-9CB2-B394F94E23D1}"/>
              </a:ext>
            </a:extLst>
          </p:cNvPr>
          <p:cNvSpPr txBox="1"/>
          <p:nvPr/>
        </p:nvSpPr>
        <p:spPr>
          <a:xfrm>
            <a:off x="7773219" y="4544383"/>
            <a:ext cx="120308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i="0" u="none" dirty="0">
                <a:solidFill>
                  <a:srgbClr val="0F172A"/>
                </a:solidFill>
                <a:latin typeface="Plus Jakarta Sans"/>
              </a:rPr>
              <a:t>Тагиров Павел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9" name="TextBox 20">
            <a:extLst>
              <a:ext uri="{FF2B5EF4-FFF2-40B4-BE49-F238E27FC236}">
                <a16:creationId xmlns:a16="http://schemas.microsoft.com/office/drawing/2014/main" id="{18E4DAC3-B2BB-CDD6-97AF-BF7ED8CAC5BC}"/>
              </a:ext>
            </a:extLst>
          </p:cNvPr>
          <p:cNvSpPr txBox="1"/>
          <p:nvPr/>
        </p:nvSpPr>
        <p:spPr>
          <a:xfrm>
            <a:off x="7773219" y="4830133"/>
            <a:ext cx="123033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0" i="0" u="none" dirty="0">
                <a:solidFill>
                  <a:srgbClr val="64748B"/>
                </a:solidFill>
                <a:latin typeface="Plus Jakarta Sans"/>
              </a:rPr>
              <a:t>Frontend &amp; </a:t>
            </a:r>
            <a:r>
              <a:rPr lang="ru-RU" sz="1200" b="0" i="0" u="none" dirty="0">
                <a:solidFill>
                  <a:srgbClr val="64748B"/>
                </a:solidFill>
                <a:latin typeface="Plus Jakarta Sans"/>
              </a:rPr>
              <a:t>Дизайн</a:t>
            </a:r>
            <a:endParaRPr sz="12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60" name="TextBox 23">
            <a:extLst>
              <a:ext uri="{FF2B5EF4-FFF2-40B4-BE49-F238E27FC236}">
                <a16:creationId xmlns:a16="http://schemas.microsoft.com/office/drawing/2014/main" id="{5492D0FD-ADF4-6555-8BE1-1927DF97AE59}"/>
              </a:ext>
            </a:extLst>
          </p:cNvPr>
          <p:cNvSpPr txBox="1"/>
          <p:nvPr/>
        </p:nvSpPr>
        <p:spPr>
          <a:xfrm>
            <a:off x="2292537" y="4544383"/>
            <a:ext cx="142859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i="0" u="none" dirty="0">
                <a:solidFill>
                  <a:srgbClr val="0F172A"/>
                </a:solidFill>
                <a:latin typeface="Plus Jakarta Sans"/>
              </a:rPr>
              <a:t>Чепиков Максим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1" name="TextBox 24">
            <a:extLst>
              <a:ext uri="{FF2B5EF4-FFF2-40B4-BE49-F238E27FC236}">
                <a16:creationId xmlns:a16="http://schemas.microsoft.com/office/drawing/2014/main" id="{0A2F35CE-A44C-382B-C9AC-C799AD41DB6B}"/>
              </a:ext>
            </a:extLst>
          </p:cNvPr>
          <p:cNvSpPr txBox="1"/>
          <p:nvPr/>
        </p:nvSpPr>
        <p:spPr>
          <a:xfrm>
            <a:off x="2292537" y="4830133"/>
            <a:ext cx="26082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Product &amp; Системный анализ</a:t>
            </a:r>
          </a:p>
        </p:txBody>
      </p:sp>
      <p:pic>
        <p:nvPicPr>
          <p:cNvPr id="62" name="Picture 2" descr="Просмотрите 53 идей на доске «Смешные Макаки» и на тему ...">
            <a:extLst>
              <a:ext uri="{FF2B5EF4-FFF2-40B4-BE49-F238E27FC236}">
                <a16:creationId xmlns:a16="http://schemas.microsoft.com/office/drawing/2014/main" id="{0E1D1D13-5BB6-8F21-95D8-345C36B0E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412" y="1646869"/>
            <a:ext cx="2602494" cy="263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Просмотрите 53 идей на доске «Смешные Макаки» и на тему ...">
            <a:extLst>
              <a:ext uri="{FF2B5EF4-FFF2-40B4-BE49-F238E27FC236}">
                <a16:creationId xmlns:a16="http://schemas.microsoft.com/office/drawing/2014/main" id="{527F1BCD-5987-2354-238D-9E8EE19D7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230" y="1646868"/>
            <a:ext cx="2602494" cy="263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Просмотрите 53 идей на доске «Смешные Макаки» и на тему ...">
            <a:extLst>
              <a:ext uri="{FF2B5EF4-FFF2-40B4-BE49-F238E27FC236}">
                <a16:creationId xmlns:a16="http://schemas.microsoft.com/office/drawing/2014/main" id="{DA4582CB-C24E-C6B3-3965-9F7D42361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094" y="1646869"/>
            <a:ext cx="2602494" cy="263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534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03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45EBB56-357A-5B5B-EAE6-54DF4B36C072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8464650-57A5-6038-3C19-ABD35C70CCED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C33F275-B5A6-CD84-C8D6-43722379BC37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46BD27B-B30F-75D8-D038-BC482E3A83EE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F987744-83E3-17B7-5EEE-1E7DC335CE03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170354A-5759-6C04-3499-FF17F45AC393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D939AC5-A903-76D1-630F-41B6111A29F3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E2B040C-3D7F-9BB7-77B0-0210652FB3FE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DF23A4A-FF68-DBA0-96EE-84B0CD1B3E54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B2958C7-31FD-1CF5-A78B-6ECEB1F410B5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58F7045-378E-1F99-012A-CDF218F43DAA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A9FD4C9-8DBD-C8C7-5064-DC523830DF16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88EEC14-237A-E305-4088-2E6873D9C017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419D5A1-D3DB-DCE4-4122-CA0665D4DB36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A57463D-7DAA-FFD4-FD1B-F7D83518391C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0A296D2-2543-8641-CC43-CBA2AB99CE6E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A95BCB7-F087-60F3-5F9D-F619AAFC957C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7C3DD72-1D87-E672-A3F1-E76FC17459F9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3F78585-866D-0E02-FFDB-F256D11A6D5D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F91DB89-B1E2-9D92-EC27-7BC49DDA966B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1382261-F42F-B719-73A8-CA774DFE20FA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207365F-4DAF-5588-DA13-5F816DC9369A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33CFB26-3610-C0AB-C4D3-534D50F6B34C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8F27330-18D8-4158-3E93-EA307EE2F0D6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25CCF48-A646-3FD2-154F-541E3C9D3C54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980ECCD-BAE5-E230-01FA-29A01E625AF0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F641627-78AE-C00B-8C2C-082FF5070B3C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2436800-F9A7-4F14-CA87-26B24A96ADA7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Проблема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F9379CB4-CC7E-4EFF-1243-CDFEF0CC1009}"/>
              </a:ext>
            </a:extLst>
          </p:cNvPr>
          <p:cNvSpPr>
            <a:spLocks noGrp="1"/>
          </p:cNvSpPr>
          <p:nvPr/>
        </p:nvSpPr>
        <p:spPr>
          <a:xfrm>
            <a:off x="609600" y="1320800"/>
            <a:ext cx="10972800" cy="121920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2355CD-76F6-2B0B-F764-A753395F9BBF}"/>
              </a:ext>
            </a:extLst>
          </p:cNvPr>
          <p:cNvSpPr>
            <a:spLocks noGrp="1"/>
          </p:cNvSpPr>
          <p:nvPr/>
        </p:nvSpPr>
        <p:spPr>
          <a:xfrm>
            <a:off x="914400" y="14986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7FE3C4"/>
                </a:solidFill>
                <a:latin typeface="Arial"/>
                <a:ea typeface="Arial"/>
                <a:cs typeface="Arial"/>
              </a:rPr>
              <a:t>ГЛАВНАЯ ПРОБЛЕМА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60AB8A-4721-6C80-8320-2DAF3DF2FB18}"/>
              </a:ext>
            </a:extLst>
          </p:cNvPr>
          <p:cNvSpPr>
            <a:spLocks noGrp="1"/>
          </p:cNvSpPr>
          <p:nvPr/>
        </p:nvSpPr>
        <p:spPr>
          <a:xfrm>
            <a:off x="914400" y="1727200"/>
            <a:ext cx="10363200" cy="635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Студенту сложно понять, хватит ли денег до следующего поступления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>
            <a:spLocks noGrp="1"/>
          </p:cNvSpPr>
          <p:nvPr/>
        </p:nvSpPr>
        <p:spPr>
          <a:xfrm>
            <a:off x="60960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>
            <a:spLocks noGrp="1"/>
          </p:cNvSpPr>
          <p:nvPr/>
        </p:nvSpPr>
        <p:spPr>
          <a:xfrm>
            <a:off x="863600" y="30480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CE03E8-EF9F-50BD-2D87-AC6E79E36716}"/>
              </a:ext>
            </a:extLst>
          </p:cNvPr>
          <p:cNvSpPr>
            <a:spLocks noGrp="1"/>
          </p:cNvSpPr>
          <p:nvPr/>
        </p:nvSpPr>
        <p:spPr>
          <a:xfrm>
            <a:off x="86360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КТО?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4DCEA2-6731-B78E-231A-47649E58B130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2952750" cy="13335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7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Студенты 18–25 лет, которые совмещают учёбу и подработку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8D97D51E-E4E2-AF70-D55A-9FE318658D4A}"/>
              </a:ext>
            </a:extLst>
          </p:cNvPr>
          <p:cNvSpPr>
            <a:spLocks noGrp="1"/>
          </p:cNvSpPr>
          <p:nvPr/>
        </p:nvSpPr>
        <p:spPr>
          <a:xfrm>
            <a:off x="433451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7AC1118F-0CDC-DD46-94EA-A99AE1146161}"/>
              </a:ext>
            </a:extLst>
          </p:cNvPr>
          <p:cNvSpPr>
            <a:spLocks noGrp="1"/>
          </p:cNvSpPr>
          <p:nvPr/>
        </p:nvSpPr>
        <p:spPr>
          <a:xfrm>
            <a:off x="4588510" y="30480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229335-D9FD-65E0-03BA-FE7DADF9D87F}"/>
              </a:ext>
            </a:extLst>
          </p:cNvPr>
          <p:cNvSpPr>
            <a:spLocks noGrp="1"/>
          </p:cNvSpPr>
          <p:nvPr/>
        </p:nvSpPr>
        <p:spPr>
          <a:xfrm>
            <a:off x="458851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ЧТО ПРОИСХОДИТ?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22CC22-D574-5FC4-E14D-44447AC146B5}"/>
              </a:ext>
            </a:extLst>
          </p:cNvPr>
          <p:cNvSpPr>
            <a:spLocks noGrp="1"/>
          </p:cNvSpPr>
          <p:nvPr/>
        </p:nvSpPr>
        <p:spPr>
          <a:xfrm>
            <a:off x="4581525" y="3905250"/>
            <a:ext cx="2952750" cy="150495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7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Стипендия приходит по расписанию. Выплаты за смены меняются по сумме и дате.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2184B6B5-01CE-EBC9-F489-ADC3ABDB42ED}"/>
              </a:ext>
            </a:extLst>
          </p:cNvPr>
          <p:cNvSpPr>
            <a:spLocks noGrp="1"/>
          </p:cNvSpPr>
          <p:nvPr/>
        </p:nvSpPr>
        <p:spPr>
          <a:xfrm>
            <a:off x="805942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FD0B530A-1A02-2574-E468-35B6C7E93FB3}"/>
              </a:ext>
            </a:extLst>
          </p:cNvPr>
          <p:cNvSpPr>
            <a:spLocks noGrp="1"/>
          </p:cNvSpPr>
          <p:nvPr/>
        </p:nvSpPr>
        <p:spPr>
          <a:xfrm>
            <a:off x="8313420" y="30480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2C76D2-87C6-94CA-DD3C-C594F3B9D8D3}"/>
              </a:ext>
            </a:extLst>
          </p:cNvPr>
          <p:cNvSpPr>
            <a:spLocks noGrp="1"/>
          </p:cNvSpPr>
          <p:nvPr/>
        </p:nvSpPr>
        <p:spPr>
          <a:xfrm>
            <a:off x="831342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ПОЧЕМУ ЭТО ВАЖНО?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203677-9668-42BA-013B-8EFB8A91822B}"/>
              </a:ext>
            </a:extLst>
          </p:cNvPr>
          <p:cNvSpPr>
            <a:spLocks noGrp="1"/>
          </p:cNvSpPr>
          <p:nvPr/>
        </p:nvSpPr>
        <p:spPr>
          <a:xfrm>
            <a:off x="8315325" y="3905250"/>
            <a:ext cx="2952750" cy="150495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7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Остаток на карте не показывает, сколько денег останется после обязательных платежей.</a:t>
            </a:r>
          </a:p>
        </p:txBody>
      </p:sp>
    </p:spTree>
    <p:extLst>
      <p:ext uri="{BB962C8B-B14F-4D97-AF65-F5344CB8AC3E}">
        <p14:creationId xmlns:p14="http://schemas.microsoft.com/office/powerpoint/2010/main" val="82339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7E102-3B36-75D6-C951-5BD09A21FF92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6818B-48E9-D250-EB7F-8E42B2452484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04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361991E-6A1F-D7A4-F342-F73157C707E7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E4CE54-FFF6-A969-E9B7-9B4191403C95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E64657D-D2A1-AC5C-802A-698B9F6A7256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F97B05-DAC9-B61C-B394-D46CAB720992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8F21BAF-0531-CC27-610E-A88E52B080DA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EF228FD-634B-A71A-6C7F-040F622A9EB1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2FF8834-AC51-783B-F4EE-4B7ED1685F88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5657C1A-A19C-8442-2DF2-C0459A665C62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DD9CD7-FA6E-9B7D-B5FB-6F4440A3B69B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9FCF398-0DA1-06A1-99C6-A118DBC767EF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42711D-C84D-271D-0782-0139C41E5BD5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B47B9B6-8D31-2105-9375-AF83D4BDDE67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876DE32-1E85-27A7-8432-1E022F1AC276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6C9D4CC-EB52-68CA-6027-D9BA6C659291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3EA97F5-9416-1D12-093A-E48367F45EE3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3CD0466-70EE-7302-F3A8-A98CCEB0C227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96D4264-7F21-BE89-589F-2CCF2AD9F9E4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077BB96-9250-7E3A-60D3-D5469B8CED58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11507E5-1367-063F-3FB7-579C36B01586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38DA347-9E40-78BF-3146-EC62CD51A093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1742702-C865-2982-9428-433CD15D886C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9AA0890-1B5F-5A6F-2A35-47F9C431F15F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2E6DB67-44A6-88BB-218C-BDCCE0B584E5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92E34B9-24A9-424F-FB8D-A398D0B158D2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25126ED-7BE8-6B7F-7D71-7DC635CBDDFB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083EEE3-30A0-B936-95FC-0E80BC47DBBC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1D36EB8-6D8B-59C0-D2BE-912333CB3546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1514C11-7344-35B2-746D-5912F3751BBF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BDA61-6CA5-F8A3-E4B4-3D04231048ED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Пользователь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46F126BF-6094-BB27-B39D-44322CB91499}"/>
              </a:ext>
            </a:extLst>
          </p:cNvPr>
          <p:cNvSpPr>
            <a:spLocks noGrp="1"/>
          </p:cNvSpPr>
          <p:nvPr/>
        </p:nvSpPr>
        <p:spPr>
          <a:xfrm>
            <a:off x="609600" y="1320800"/>
            <a:ext cx="3810000" cy="44450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ABE81A78-B8F3-C59C-3E6C-E0A1AA1CD8DE}"/>
              </a:ext>
            </a:extLst>
          </p:cNvPr>
          <p:cNvSpPr>
            <a:spLocks noGrp="1"/>
          </p:cNvSpPr>
          <p:nvPr/>
        </p:nvSpPr>
        <p:spPr>
          <a:xfrm>
            <a:off x="1752600" y="1625600"/>
            <a:ext cx="1524000" cy="1524000"/>
          </a:xfrm>
          <a:prstGeom prst="ellipse">
            <a:avLst/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397505D-CB13-D618-E2CC-A5E44E8ACD9F}"/>
              </a:ext>
            </a:extLst>
          </p:cNvPr>
          <p:cNvSpPr>
            <a:spLocks noGrp="1"/>
          </p:cNvSpPr>
          <p:nvPr/>
        </p:nvSpPr>
        <p:spPr>
          <a:xfrm>
            <a:off x="2279650" y="21082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B903745-8678-B1FA-991C-4EED7CE2F1CC}"/>
              </a:ext>
            </a:extLst>
          </p:cNvPr>
          <p:cNvSpPr>
            <a:spLocks noGrp="1"/>
          </p:cNvSpPr>
          <p:nvPr/>
        </p:nvSpPr>
        <p:spPr>
          <a:xfrm>
            <a:off x="2336800" y="21082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0931ACBA-1FA4-91C6-1523-1CA9AFD5DBE9}"/>
              </a:ext>
            </a:extLst>
          </p:cNvPr>
          <p:cNvSpPr>
            <a:spLocks noGrp="1"/>
          </p:cNvSpPr>
          <p:nvPr/>
        </p:nvSpPr>
        <p:spPr>
          <a:xfrm>
            <a:off x="2393950" y="21082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3FAE1B5-7620-4541-8554-84A3B886324C}"/>
              </a:ext>
            </a:extLst>
          </p:cNvPr>
          <p:cNvSpPr>
            <a:spLocks noGrp="1"/>
          </p:cNvSpPr>
          <p:nvPr/>
        </p:nvSpPr>
        <p:spPr>
          <a:xfrm>
            <a:off x="2622550" y="21082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A4FA758-43BD-97F5-81D9-5ACD06EE9149}"/>
              </a:ext>
            </a:extLst>
          </p:cNvPr>
          <p:cNvSpPr>
            <a:spLocks noGrp="1"/>
          </p:cNvSpPr>
          <p:nvPr/>
        </p:nvSpPr>
        <p:spPr>
          <a:xfrm>
            <a:off x="2679700" y="21082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3C8F0FAA-68BF-AE4E-9D2A-25281F8B9BDE}"/>
              </a:ext>
            </a:extLst>
          </p:cNvPr>
          <p:cNvSpPr>
            <a:spLocks noGrp="1"/>
          </p:cNvSpPr>
          <p:nvPr/>
        </p:nvSpPr>
        <p:spPr>
          <a:xfrm>
            <a:off x="2736850" y="21082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7E42AF72-B216-24BF-7EDC-45B075161D46}"/>
              </a:ext>
            </a:extLst>
          </p:cNvPr>
          <p:cNvSpPr>
            <a:spLocks noGrp="1"/>
          </p:cNvSpPr>
          <p:nvPr/>
        </p:nvSpPr>
        <p:spPr>
          <a:xfrm>
            <a:off x="2222500" y="21653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8A379BB-74BD-DFE4-B8F3-4755CB6162E5}"/>
              </a:ext>
            </a:extLst>
          </p:cNvPr>
          <p:cNvSpPr>
            <a:spLocks noGrp="1"/>
          </p:cNvSpPr>
          <p:nvPr/>
        </p:nvSpPr>
        <p:spPr>
          <a:xfrm>
            <a:off x="2451100" y="21653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F0BFF4D-3DE2-3E15-C514-BE1128F43344}"/>
              </a:ext>
            </a:extLst>
          </p:cNvPr>
          <p:cNvSpPr>
            <a:spLocks noGrp="1"/>
          </p:cNvSpPr>
          <p:nvPr/>
        </p:nvSpPr>
        <p:spPr>
          <a:xfrm>
            <a:off x="2565400" y="21653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BC64F689-E0D2-99F5-260E-253A11BA25D6}"/>
              </a:ext>
            </a:extLst>
          </p:cNvPr>
          <p:cNvSpPr>
            <a:spLocks noGrp="1"/>
          </p:cNvSpPr>
          <p:nvPr/>
        </p:nvSpPr>
        <p:spPr>
          <a:xfrm>
            <a:off x="2794000" y="21653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AB42AAD6-4C31-21CB-7D51-710721A62ACD}"/>
              </a:ext>
            </a:extLst>
          </p:cNvPr>
          <p:cNvSpPr>
            <a:spLocks noGrp="1"/>
          </p:cNvSpPr>
          <p:nvPr/>
        </p:nvSpPr>
        <p:spPr>
          <a:xfrm>
            <a:off x="2165350" y="22225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3430823A-6D47-1BEC-F5C4-A9D5D94E7566}"/>
              </a:ext>
            </a:extLst>
          </p:cNvPr>
          <p:cNvSpPr>
            <a:spLocks noGrp="1"/>
          </p:cNvSpPr>
          <p:nvPr/>
        </p:nvSpPr>
        <p:spPr>
          <a:xfrm>
            <a:off x="2508250" y="22225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35FC7404-B560-26DA-8F1A-25B02BD86B03}"/>
              </a:ext>
            </a:extLst>
          </p:cNvPr>
          <p:cNvSpPr>
            <a:spLocks noGrp="1"/>
          </p:cNvSpPr>
          <p:nvPr/>
        </p:nvSpPr>
        <p:spPr>
          <a:xfrm>
            <a:off x="2851150" y="22225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DB597668-23A0-7C64-1959-21203B4DEA09}"/>
              </a:ext>
            </a:extLst>
          </p:cNvPr>
          <p:cNvSpPr>
            <a:spLocks noGrp="1"/>
          </p:cNvSpPr>
          <p:nvPr/>
        </p:nvSpPr>
        <p:spPr>
          <a:xfrm>
            <a:off x="2165350" y="22796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E51C2EFC-0CAD-F754-F875-1991C1D9AB1C}"/>
              </a:ext>
            </a:extLst>
          </p:cNvPr>
          <p:cNvSpPr>
            <a:spLocks noGrp="1"/>
          </p:cNvSpPr>
          <p:nvPr/>
        </p:nvSpPr>
        <p:spPr>
          <a:xfrm>
            <a:off x="2851150" y="22796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1392214E-7B20-49AC-FFAF-30CB637116BA}"/>
              </a:ext>
            </a:extLst>
          </p:cNvPr>
          <p:cNvSpPr>
            <a:spLocks noGrp="1"/>
          </p:cNvSpPr>
          <p:nvPr/>
        </p:nvSpPr>
        <p:spPr>
          <a:xfrm>
            <a:off x="2165350" y="23368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95860716-4722-E4B5-F04F-50E9C9B68A29}"/>
              </a:ext>
            </a:extLst>
          </p:cNvPr>
          <p:cNvSpPr>
            <a:spLocks noGrp="1"/>
          </p:cNvSpPr>
          <p:nvPr/>
        </p:nvSpPr>
        <p:spPr>
          <a:xfrm>
            <a:off x="2851150" y="23368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F18F35DB-0C5D-B4B1-7F35-AEB6A2BA461A}"/>
              </a:ext>
            </a:extLst>
          </p:cNvPr>
          <p:cNvSpPr>
            <a:spLocks noGrp="1"/>
          </p:cNvSpPr>
          <p:nvPr/>
        </p:nvSpPr>
        <p:spPr>
          <a:xfrm>
            <a:off x="2222500" y="23939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663673EA-DE7B-9D26-5E7B-8EBE66DD6845}"/>
              </a:ext>
            </a:extLst>
          </p:cNvPr>
          <p:cNvSpPr>
            <a:spLocks noGrp="1"/>
          </p:cNvSpPr>
          <p:nvPr/>
        </p:nvSpPr>
        <p:spPr>
          <a:xfrm>
            <a:off x="2794000" y="23939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846C2CF8-1EA3-35F3-6DB6-61AB50B680C9}"/>
              </a:ext>
            </a:extLst>
          </p:cNvPr>
          <p:cNvSpPr>
            <a:spLocks noGrp="1"/>
          </p:cNvSpPr>
          <p:nvPr/>
        </p:nvSpPr>
        <p:spPr>
          <a:xfrm>
            <a:off x="2279650" y="24511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93E7C103-C924-0952-5DEE-3AE2D6A7EF52}"/>
              </a:ext>
            </a:extLst>
          </p:cNvPr>
          <p:cNvSpPr>
            <a:spLocks noGrp="1"/>
          </p:cNvSpPr>
          <p:nvPr/>
        </p:nvSpPr>
        <p:spPr>
          <a:xfrm>
            <a:off x="2736850" y="24511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4D3CA6DA-EB83-B44F-5C4A-E96021E03133}"/>
              </a:ext>
            </a:extLst>
          </p:cNvPr>
          <p:cNvSpPr>
            <a:spLocks noGrp="1"/>
          </p:cNvSpPr>
          <p:nvPr/>
        </p:nvSpPr>
        <p:spPr>
          <a:xfrm>
            <a:off x="2336800" y="25082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27BC3720-9408-DC5B-DA54-8141C8D41575}"/>
              </a:ext>
            </a:extLst>
          </p:cNvPr>
          <p:cNvSpPr>
            <a:spLocks noGrp="1"/>
          </p:cNvSpPr>
          <p:nvPr/>
        </p:nvSpPr>
        <p:spPr>
          <a:xfrm>
            <a:off x="2679700" y="25082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A6934A12-1494-446E-B9B7-4E06AC6F1A35}"/>
              </a:ext>
            </a:extLst>
          </p:cNvPr>
          <p:cNvSpPr>
            <a:spLocks noGrp="1"/>
          </p:cNvSpPr>
          <p:nvPr/>
        </p:nvSpPr>
        <p:spPr>
          <a:xfrm>
            <a:off x="2393950" y="25654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CADC189E-D130-2E90-4521-99DA086EC403}"/>
              </a:ext>
            </a:extLst>
          </p:cNvPr>
          <p:cNvSpPr>
            <a:spLocks noGrp="1"/>
          </p:cNvSpPr>
          <p:nvPr/>
        </p:nvSpPr>
        <p:spPr>
          <a:xfrm>
            <a:off x="2622550" y="25654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339A83C9-58AD-9D59-A10C-E8E11DF9CE7C}"/>
              </a:ext>
            </a:extLst>
          </p:cNvPr>
          <p:cNvSpPr>
            <a:spLocks noGrp="1"/>
          </p:cNvSpPr>
          <p:nvPr/>
        </p:nvSpPr>
        <p:spPr>
          <a:xfrm>
            <a:off x="2451100" y="26225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ACC00643-7925-632B-CE94-57C77BE01CCB}"/>
              </a:ext>
            </a:extLst>
          </p:cNvPr>
          <p:cNvSpPr>
            <a:spLocks noGrp="1"/>
          </p:cNvSpPr>
          <p:nvPr/>
        </p:nvSpPr>
        <p:spPr>
          <a:xfrm>
            <a:off x="2565400" y="262255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61507F75-FAA3-4E1F-9E6F-F6FDE96EA929}"/>
              </a:ext>
            </a:extLst>
          </p:cNvPr>
          <p:cNvSpPr>
            <a:spLocks noGrp="1"/>
          </p:cNvSpPr>
          <p:nvPr/>
        </p:nvSpPr>
        <p:spPr>
          <a:xfrm>
            <a:off x="2508250" y="2679700"/>
            <a:ext cx="5715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25301E-C7AD-5393-65A8-95031F85168F}"/>
              </a:ext>
            </a:extLst>
          </p:cNvPr>
          <p:cNvSpPr>
            <a:spLocks noGrp="1"/>
          </p:cNvSpPr>
          <p:nvPr/>
        </p:nvSpPr>
        <p:spPr>
          <a:xfrm>
            <a:off x="863600" y="3378200"/>
            <a:ext cx="33020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ctr">
              <a:buNone/>
            </a:pPr>
            <a:r>
              <a:rPr sz="900" b="1" spc="150">
                <a:solidFill>
                  <a:srgbClr val="22A889"/>
                </a:solidFill>
                <a:latin typeface="Arial"/>
                <a:ea typeface="Arial"/>
                <a:cs typeface="Arial"/>
              </a:rPr>
              <a:t>ПОРТРЕТ ПОЛЬЗОВАТЕЛЯ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D70F14-28EE-F39B-E76B-840928F89DEE}"/>
              </a:ext>
            </a:extLst>
          </p:cNvPr>
          <p:cNvSpPr>
            <a:spLocks noGrp="1"/>
          </p:cNvSpPr>
          <p:nvPr/>
        </p:nvSpPr>
        <p:spPr>
          <a:xfrm>
            <a:off x="863600" y="3657600"/>
            <a:ext cx="3302000" cy="635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F1B3D"/>
                </a:solidFill>
                <a:latin typeface="Arial"/>
                <a:ea typeface="Arial"/>
                <a:cs typeface="Arial"/>
              </a:rPr>
              <a:t>Студент, который сам считает, хватит ли денег до стипендии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2FB9B3-03D1-4631-B973-904400BC1A19}"/>
              </a:ext>
            </a:extLst>
          </p:cNvPr>
          <p:cNvSpPr>
            <a:spLocks noGrp="1"/>
          </p:cNvSpPr>
          <p:nvPr/>
        </p:nvSpPr>
        <p:spPr>
          <a:xfrm>
            <a:off x="885825" y="4391025"/>
            <a:ext cx="3238500" cy="10668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Учится очно и подрабатывает</a:t>
            </a:r>
          </a:p>
          <a:p>
            <a:pPr algn="ctr">
              <a:buNone/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Доход от смен меняется</a:t>
            </a:r>
          </a:p>
          <a:p>
            <a:pPr algn="ctr">
              <a:buNone/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Сам оплачивает повседневные расходы</a:t>
            </a:r>
          </a:p>
        </p:txBody>
      </p:sp>
      <p:sp>
        <p:nvSpPr>
          <p:cNvPr id="68" name="Прямоугольник: скругленные углы 67">
            <a:extLst>
              <a:ext uri="{FF2B5EF4-FFF2-40B4-BE49-F238E27FC236}">
                <a16:creationId xmlns:a16="http://schemas.microsoft.com/office/drawing/2014/main" id="{5164D08C-C9BD-405D-04D9-2F8AD717F7CD}"/>
              </a:ext>
            </a:extLst>
          </p:cNvPr>
          <p:cNvSpPr>
            <a:spLocks noGrp="1"/>
          </p:cNvSpPr>
          <p:nvPr/>
        </p:nvSpPr>
        <p:spPr>
          <a:xfrm>
            <a:off x="4673600" y="13208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39F97884-5992-3058-A9A8-ACAEAE7F9B83}"/>
              </a:ext>
            </a:extLst>
          </p:cNvPr>
          <p:cNvSpPr>
            <a:spLocks noGrp="1"/>
          </p:cNvSpPr>
          <p:nvPr/>
        </p:nvSpPr>
        <p:spPr>
          <a:xfrm>
            <a:off x="4927600" y="16002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79C28B8-72A4-43CA-CB70-94CAD8003009}"/>
              </a:ext>
            </a:extLst>
          </p:cNvPr>
          <p:cNvSpPr>
            <a:spLocks noGrp="1"/>
          </p:cNvSpPr>
          <p:nvPr/>
        </p:nvSpPr>
        <p:spPr>
          <a:xfrm>
            <a:off x="5588000" y="16002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ОСНОВНАЯ ЦА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927D53-7B8E-E6F0-FAFA-96F8A7D79AC8}"/>
              </a:ext>
            </a:extLst>
          </p:cNvPr>
          <p:cNvSpPr>
            <a:spLocks noGrp="1"/>
          </p:cNvSpPr>
          <p:nvPr/>
        </p:nvSpPr>
        <p:spPr>
          <a:xfrm>
            <a:off x="5588000" y="1879600"/>
            <a:ext cx="5715000" cy="635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Студенты 18–25 лет, которые самостоятельно управляют личными расходами</a:t>
            </a:r>
          </a:p>
        </p:txBody>
      </p:sp>
      <p:sp>
        <p:nvSpPr>
          <p:cNvPr id="72" name="Прямоугольник: скругленные углы 71">
            <a:extLst>
              <a:ext uri="{FF2B5EF4-FFF2-40B4-BE49-F238E27FC236}">
                <a16:creationId xmlns:a16="http://schemas.microsoft.com/office/drawing/2014/main" id="{2B0D194A-0596-4463-6964-F6E559486180}"/>
              </a:ext>
            </a:extLst>
          </p:cNvPr>
          <p:cNvSpPr>
            <a:spLocks noGrp="1"/>
          </p:cNvSpPr>
          <p:nvPr/>
        </p:nvSpPr>
        <p:spPr>
          <a:xfrm>
            <a:off x="4673600" y="28702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Прямоугольник: скругленные углы 72">
            <a:extLst>
              <a:ext uri="{FF2B5EF4-FFF2-40B4-BE49-F238E27FC236}">
                <a16:creationId xmlns:a16="http://schemas.microsoft.com/office/drawing/2014/main" id="{E4800A70-2D8F-AEEA-B082-9F7B800E5DD5}"/>
              </a:ext>
            </a:extLst>
          </p:cNvPr>
          <p:cNvSpPr>
            <a:spLocks noGrp="1"/>
          </p:cNvSpPr>
          <p:nvPr/>
        </p:nvSpPr>
        <p:spPr>
          <a:xfrm>
            <a:off x="4927600" y="31496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2EB3D7-365D-2EF5-7E14-FDD75CBEE45D}"/>
              </a:ext>
            </a:extLst>
          </p:cNvPr>
          <p:cNvSpPr>
            <a:spLocks noGrp="1"/>
          </p:cNvSpPr>
          <p:nvPr/>
        </p:nvSpPr>
        <p:spPr>
          <a:xfrm>
            <a:off x="5588000" y="31496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СЕГМЕНТ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D265B11-1D29-F3EC-F456-BFD67411C418}"/>
              </a:ext>
            </a:extLst>
          </p:cNvPr>
          <p:cNvSpPr>
            <a:spLocks noGrp="1"/>
          </p:cNvSpPr>
          <p:nvPr/>
        </p:nvSpPr>
        <p:spPr>
          <a:xfrm>
            <a:off x="5588000" y="3429000"/>
            <a:ext cx="5715000" cy="635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Стипендия плюс подработка: деньги приходят в разные даты и разными суммами</a:t>
            </a:r>
          </a:p>
        </p:txBody>
      </p:sp>
      <p:sp>
        <p:nvSpPr>
          <p:cNvPr id="76" name="Прямоугольник: скругленные углы 75">
            <a:extLst>
              <a:ext uri="{FF2B5EF4-FFF2-40B4-BE49-F238E27FC236}">
                <a16:creationId xmlns:a16="http://schemas.microsoft.com/office/drawing/2014/main" id="{1CAC03A0-214E-5FC7-FB67-D90A367F249C}"/>
              </a:ext>
            </a:extLst>
          </p:cNvPr>
          <p:cNvSpPr>
            <a:spLocks noGrp="1"/>
          </p:cNvSpPr>
          <p:nvPr/>
        </p:nvSpPr>
        <p:spPr>
          <a:xfrm>
            <a:off x="4673600" y="44196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" name="Прямоугольник: скругленные углы 76">
            <a:extLst>
              <a:ext uri="{FF2B5EF4-FFF2-40B4-BE49-F238E27FC236}">
                <a16:creationId xmlns:a16="http://schemas.microsoft.com/office/drawing/2014/main" id="{E9E81BB4-8AF8-2BDC-EE64-DEA8DE16609A}"/>
              </a:ext>
            </a:extLst>
          </p:cNvPr>
          <p:cNvSpPr>
            <a:spLocks noGrp="1"/>
          </p:cNvSpPr>
          <p:nvPr/>
        </p:nvSpPr>
        <p:spPr>
          <a:xfrm>
            <a:off x="4927600" y="46990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22496D-F8C5-CF43-D46E-90DCB962B376}"/>
              </a:ext>
            </a:extLst>
          </p:cNvPr>
          <p:cNvSpPr>
            <a:spLocks noGrp="1"/>
          </p:cNvSpPr>
          <p:nvPr/>
        </p:nvSpPr>
        <p:spPr>
          <a:xfrm>
            <a:off x="5588000" y="46990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097DB5A-3005-DADB-8D1F-99078083C46F}"/>
              </a:ext>
            </a:extLst>
          </p:cNvPr>
          <p:cNvSpPr>
            <a:spLocks noGrp="1"/>
          </p:cNvSpPr>
          <p:nvPr/>
        </p:nvSpPr>
        <p:spPr>
          <a:xfrm>
            <a:off x="5588000" y="4978400"/>
            <a:ext cx="5715000" cy="635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Нужно учесть жильё, связь и резерв, прежде чем решить, сколько тратить сегодня</a:t>
            </a:r>
          </a:p>
        </p:txBody>
      </p:sp>
    </p:spTree>
    <p:extLst>
      <p:ext uri="{BB962C8B-B14F-4D97-AF65-F5344CB8AC3E}">
        <p14:creationId xmlns:p14="http://schemas.microsoft.com/office/powerpoint/2010/main" val="4027729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AE30C3-D144-9786-3491-CE174604A805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7B171-7ECB-1ED3-D93F-4E9D75AFBCA4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05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4B66FD-F435-7C17-D350-2AD351260734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ADAB74C-F431-9350-71AB-974ED36E242D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83AE699-6108-D747-4EC5-C77E68ACD9C8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9BBED82-C31C-727B-C84E-7DBB4742E5B7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DCCC5E9-D85D-7B03-5434-D44A77CD1CA9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8FFD90-6C58-E810-8B58-97F9D3B8B687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0B7519F-6B70-ADA6-3216-4CB5C37F26A2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7009FEC-E36C-8C13-610D-954527E15E9B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31C221F-E1C8-1D93-7194-FB70258F3CBE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C142320-4D8E-D458-941C-F5153A5B2092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C6D7C0C-26E5-0142-A059-9F593EF615B5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BF0A95D-824A-3C3E-8104-D6FA466C3420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31B85C5-A21D-A791-35A8-8D953D6F6297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142C75E-B0BC-C09D-27A7-3ABD329C83E1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737EFE9-4A4F-99CD-4308-130F8B18A542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57A66CC-87CC-2AFD-5175-871BE074F88B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41770E3-D9B2-2226-A7E9-BA35B6BE3E2C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392808F-5C93-678A-68B7-726AFE03B4D6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E3A129F-FCF5-C070-4F66-FB4DB6473489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87E3A7A-0E62-527D-A2DC-51B6F91D901B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A7B157A-9CA9-A442-7316-5B9AD712BFD4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D3FE673-D6B7-8F95-6FE9-90F09BE3A946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9312BD8-55AE-5C20-91B7-BD5B5FBE895C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5DB632F-87CD-A2F8-0683-9CC71AF281A9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736626B-7072-B270-DDF2-99EF02B066F9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4C36A90-E70F-B8BB-98A7-3778E73BFEE4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F590B6C-F52F-F2A1-1040-F3879F3A1351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F6798FB0-2739-0CE2-FC75-C252CD3D34EF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81A733-C286-F8E5-3CAD-AE2A67114894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30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Предлагаемое решение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D1AC979-973C-0D7B-3FE7-0331EE9FDE2E}"/>
              </a:ext>
            </a:extLst>
          </p:cNvPr>
          <p:cNvSpPr>
            <a:spLocks noGrp="1"/>
          </p:cNvSpPr>
          <p:nvPr/>
        </p:nvSpPr>
        <p:spPr>
          <a:xfrm>
            <a:off x="609600" y="1320800"/>
            <a:ext cx="6604000" cy="1905000"/>
          </a:xfrm>
          <a:prstGeom prst="roundRect">
            <a:avLst>
              <a:gd name="adj" fmla="val 10000"/>
            </a:avLst>
          </a:prstGeom>
          <a:solidFill>
            <a:srgbClr val="0F1B3D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733BCA-DDEC-22DE-225A-A5435985F562}"/>
              </a:ext>
            </a:extLst>
          </p:cNvPr>
          <p:cNvSpPr>
            <a:spLocks noGrp="1"/>
          </p:cNvSpPr>
          <p:nvPr/>
        </p:nvSpPr>
        <p:spPr>
          <a:xfrm>
            <a:off x="914400" y="1524000"/>
            <a:ext cx="3810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7FE3C4"/>
                </a:solidFill>
                <a:latin typeface="Arial"/>
                <a:ea typeface="Arial"/>
                <a:cs typeface="Arial"/>
              </a:rPr>
              <a:t>НАШ ПРОДУКТ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505BF-E63E-73BD-E1DF-C18F17FE13E9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5953125" cy="11811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finly собирает операции и рассчитывает дневной бюджет с учётом платежей, резерва и даты поступления.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F2A32F-68C1-1408-6398-107ED7EDE452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000" b="1" spc="150">
                <a:solidFill>
                  <a:srgbClr val="22A889"/>
                </a:solidFill>
                <a:latin typeface="Arial"/>
                <a:ea typeface="Arial"/>
                <a:cs typeface="Arial"/>
              </a:rPr>
              <a:t>КАК РЕШАЕМ ПРОБЛЕМУ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9842D52D-DADE-F20A-80E2-AB4BC44F079F}"/>
              </a:ext>
            </a:extLst>
          </p:cNvPr>
          <p:cNvSpPr>
            <a:spLocks noGrp="1"/>
          </p:cNvSpPr>
          <p:nvPr/>
        </p:nvSpPr>
        <p:spPr>
          <a:xfrm>
            <a:off x="609600" y="3784600"/>
            <a:ext cx="1905000" cy="1981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889672-E0C9-D9CA-B1D5-4C7DF01FE964}"/>
              </a:ext>
            </a:extLst>
          </p:cNvPr>
          <p:cNvSpPr>
            <a:spLocks noGrp="1"/>
          </p:cNvSpPr>
          <p:nvPr/>
        </p:nvSpPr>
        <p:spPr>
          <a:xfrm>
            <a:off x="8128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300" b="1">
                <a:solidFill>
                  <a:srgbClr val="0F1B3D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2CF601-EEEC-007C-5629-44CFD81C4920}"/>
              </a:ext>
            </a:extLst>
          </p:cNvPr>
          <p:cNvSpPr>
            <a:spLocks noGrp="1"/>
          </p:cNvSpPr>
          <p:nvPr/>
        </p:nvSpPr>
        <p:spPr>
          <a:xfrm>
            <a:off x="809625" y="4572000"/>
            <a:ext cx="1495425" cy="1000125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5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Непонятно, сколько можно потратить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C70004-54D9-1515-0105-711E81C0762E}"/>
              </a:ext>
            </a:extLst>
          </p:cNvPr>
          <p:cNvSpPr>
            <a:spLocks noGrp="1"/>
          </p:cNvSpPr>
          <p:nvPr/>
        </p:nvSpPr>
        <p:spPr>
          <a:xfrm>
            <a:off x="2565400" y="4622800"/>
            <a:ext cx="304800" cy="304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22A88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053B6FB2-2876-5808-E5C5-6CD415DBC139}"/>
              </a:ext>
            </a:extLst>
          </p:cNvPr>
          <p:cNvSpPr>
            <a:spLocks noGrp="1"/>
          </p:cNvSpPr>
          <p:nvPr/>
        </p:nvSpPr>
        <p:spPr>
          <a:xfrm>
            <a:off x="2921000" y="3784600"/>
            <a:ext cx="1905000" cy="1981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F60942-A611-7D41-6E78-46811FB3AB4B}"/>
              </a:ext>
            </a:extLst>
          </p:cNvPr>
          <p:cNvSpPr>
            <a:spLocks noGrp="1"/>
          </p:cNvSpPr>
          <p:nvPr/>
        </p:nvSpPr>
        <p:spPr>
          <a:xfrm>
            <a:off x="31242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300" b="1">
                <a:solidFill>
                  <a:srgbClr val="0F1B3D"/>
                </a:solidFill>
                <a:latin typeface="Arial"/>
                <a:ea typeface="Arial"/>
                <a:cs typeface="Arial"/>
              </a:rPr>
              <a:t>Механика решения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7AC021-645A-65AF-49DB-5FE5CA0CD009}"/>
              </a:ext>
            </a:extLst>
          </p:cNvPr>
          <p:cNvSpPr>
            <a:spLocks noGrp="1"/>
          </p:cNvSpPr>
          <p:nvPr/>
        </p:nvSpPr>
        <p:spPr>
          <a:xfrm>
            <a:off x="3124200" y="4572000"/>
            <a:ext cx="1495425" cy="1000125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5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Учитываем остаток и будущие платежи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846D3B-F136-9DE9-711F-D237CA9FD703}"/>
              </a:ext>
            </a:extLst>
          </p:cNvPr>
          <p:cNvSpPr>
            <a:spLocks noGrp="1"/>
          </p:cNvSpPr>
          <p:nvPr/>
        </p:nvSpPr>
        <p:spPr>
          <a:xfrm>
            <a:off x="4876800" y="4622800"/>
            <a:ext cx="304800" cy="304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22A88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E25D1AB4-8354-1C85-F3FC-F220335C3177}"/>
              </a:ext>
            </a:extLst>
          </p:cNvPr>
          <p:cNvSpPr>
            <a:spLocks noGrp="1"/>
          </p:cNvSpPr>
          <p:nvPr/>
        </p:nvSpPr>
        <p:spPr>
          <a:xfrm>
            <a:off x="5232400" y="3784600"/>
            <a:ext cx="1905000" cy="1981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6E7DFB-5D86-3056-3892-3D06837F8B6A}"/>
              </a:ext>
            </a:extLst>
          </p:cNvPr>
          <p:cNvSpPr>
            <a:spLocks noGrp="1"/>
          </p:cNvSpPr>
          <p:nvPr/>
        </p:nvSpPr>
        <p:spPr>
          <a:xfrm>
            <a:off x="54356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300" b="1">
                <a:solidFill>
                  <a:srgbClr val="0F1B3D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CEF5C2-C386-4B3F-389B-014829FD83DD}"/>
              </a:ext>
            </a:extLst>
          </p:cNvPr>
          <p:cNvSpPr>
            <a:spLocks noGrp="1"/>
          </p:cNvSpPr>
          <p:nvPr/>
        </p:nvSpPr>
        <p:spPr>
          <a:xfrm>
            <a:off x="5438775" y="4572000"/>
            <a:ext cx="1495425" cy="1000125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5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Понятный лимит на каждый день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2C14BA-6141-00E8-77EF-38BB4598FED5}"/>
              </a:ext>
            </a:extLst>
          </p:cNvPr>
          <p:cNvSpPr>
            <a:spLocks noGrp="1"/>
          </p:cNvSpPr>
          <p:nvPr/>
        </p:nvSpPr>
        <p:spPr>
          <a:xfrm>
            <a:off x="7721600" y="3314700"/>
            <a:ext cx="3657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ctr">
              <a:buNone/>
            </a:pPr>
            <a:endParaRPr sz="1200" b="1">
              <a:solidFill>
                <a:srgbClr val="6B789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B63E1C79-80B8-41B6-B56B-0997656E94BA}"/>
              </a:ext>
            </a:extLst>
          </p:cNvPr>
          <p:cNvSpPr>
            <a:spLocks noGrp="1"/>
          </p:cNvSpPr>
          <p:nvPr/>
        </p:nvSpPr>
        <p:spPr>
          <a:xfrm>
            <a:off x="7620000" y="1590675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75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НАЧАТЬ МОЖНО С ВЫПИСКИ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4F7E23B5-4ACD-4BFD-96BB-8051A1DEABF6}"/>
              </a:ext>
            </a:extLst>
          </p:cNvPr>
          <p:cNvSpPr>
            <a:spLocks noGrp="1"/>
          </p:cNvSpPr>
          <p:nvPr/>
        </p:nvSpPr>
        <p:spPr>
          <a:xfrm>
            <a:off x="7620000" y="2057400"/>
            <a:ext cx="3905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PDF или CSV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CA9F0B3C-6215-40AE-A12A-A5C82B1DEF63}"/>
              </a:ext>
            </a:extLst>
          </p:cNvPr>
          <p:cNvSpPr>
            <a:spLocks noGrp="1"/>
          </p:cNvSpPr>
          <p:nvPr/>
        </p:nvSpPr>
        <p:spPr>
          <a:xfrm>
            <a:off x="7620000" y="2695575"/>
            <a:ext cx="39052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Пользователь проверяет операции перед сохранением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762D25E3-D5AA-4AE3-BE00-1C8A5C0500E9}"/>
              </a:ext>
            </a:extLst>
          </p:cNvPr>
          <p:cNvSpPr>
            <a:spLocks noGrp="1"/>
          </p:cNvSpPr>
          <p:nvPr/>
        </p:nvSpPr>
        <p:spPr>
          <a:xfrm>
            <a:off x="7620000" y="4191000"/>
            <a:ext cx="3905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Для демонстрации автоматизации подключён учебный банк</a:t>
            </a:r>
          </a:p>
        </p:txBody>
      </p:sp>
    </p:spTree>
    <p:extLst>
      <p:ext uri="{BB962C8B-B14F-4D97-AF65-F5344CB8AC3E}">
        <p14:creationId xmlns:p14="http://schemas.microsoft.com/office/powerpoint/2010/main" val="3025478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9D6CA0-3F2C-DC63-46A7-345EC20C1E50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503FF-81D1-0180-32C2-5EAD792D848A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06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2829D8C-F18D-B1E8-728B-BB2562909BB7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86AB556-3B7B-8845-08D5-6C9805AD1B1E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C9A401B-8D57-1568-BA79-F4E408E97912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B7F383E-DFD5-4AA8-2C93-D47C2C82C2D3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57D6249-6352-1195-304E-92584816161F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C6A21B5-1A51-818A-D50C-9418DC9AC4DB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9842DD4-0511-5F15-23BE-DB86DD033E0F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96CB868-B1DB-CF6C-D35A-584675C10155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A20F218-7463-B104-0477-505853547E39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C55B7B9-7CC5-DBFF-AADA-2481453243C3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E1266-F93C-8835-4133-025814D3B705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AE24A51-45F6-C1A3-5A03-4C977A4510BC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C212C6B-0FEC-12CF-8E7C-E2518163D287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C1DB416-5A80-6B30-F839-FC15CE755C72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98EFEDD-4734-62D4-93E9-6D6811EABBED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C85B963-3F3D-1EFA-E809-0BE69EB9C379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40BA5B2-2E9A-9BA8-D892-6F2BFC478DC7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4BC92F9-D6ED-524B-940E-C4C6327F7C83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4260F5F-1E0D-2A13-E001-ACEDCD02092A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6FBB2FA-A625-890A-046E-4E6B45448AAE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C827E2D-E3F1-4EFE-7039-F19A896110F3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20F2483-D5C8-D338-D4F7-D14DE4DC0DBA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FDDBE40-77B2-78C7-0750-BA0DD6668148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0403811-8CC5-CCF1-086C-D5C1F8FD94DA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FB7E1DA-9FC3-B410-AF03-D92B87D49D94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4204A84-4C38-8054-15DE-6DF9283F1A23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CE84307-58D8-2681-F279-CD6D0A34F33D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7669487-4751-3EF6-9CDC-D58043E97D22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7CED46-4673-80DE-BD37-C8914F013430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Ценность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D8288D-2B5B-B9E5-4BB7-B72C5A1C9576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858500" cy="4191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1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Понятный ориентир для ежедневных трат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BCCC2A1-396E-48F0-BD5D-CBEE413BC784}"/>
              </a:ext>
            </a:extLst>
          </p:cNvPr>
          <p:cNvSpPr>
            <a:spLocks noGrp="1"/>
          </p:cNvSpPr>
          <p:nvPr/>
        </p:nvSpPr>
        <p:spPr>
          <a:xfrm>
            <a:off x="609600" y="2162175"/>
            <a:ext cx="5905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75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ПРИМЕР РАСЧЁТА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8ED6F71B-C343-4FE0-907C-197D592140A1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405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20 000 ₽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35315A6-49BB-453B-8256-DDB04C5E2138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известный остаток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032E99F7-C110-4A79-9CCE-D94BCBB0A4E3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48577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3 000 ₽  обязательные платежи</a:t>
            </a:r>
          </a:p>
          <a:p>
            <a:pPr>
              <a:defRPr sz="20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2 000 ₽  резерв</a:t>
            </a:r>
          </a:p>
          <a:p>
            <a:pPr>
              <a:defRPr sz="20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10 дней  до поступления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B12808F7-9450-4739-A035-BDBEB030C99E}"/>
              </a:ext>
            </a:extLst>
          </p:cNvPr>
          <p:cNvSpPr>
            <a:spLocks noGrp="1"/>
          </p:cNvSpPr>
          <p:nvPr/>
        </p:nvSpPr>
        <p:spPr>
          <a:xfrm>
            <a:off x="6705600" y="2562225"/>
            <a:ext cx="4667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51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1 500 ₽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C85FC30-A6DC-4927-8F1E-9E964888B218}"/>
              </a:ext>
            </a:extLst>
          </p:cNvPr>
          <p:cNvSpPr>
            <a:spLocks noGrp="1"/>
          </p:cNvSpPr>
          <p:nvPr/>
        </p:nvSpPr>
        <p:spPr>
          <a:xfrm>
            <a:off x="6705600" y="3543300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можно тратить в день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7CC05DAC-3ED4-45EA-B215-ACD4D7166872}"/>
              </a:ext>
            </a:extLst>
          </p:cNvPr>
          <p:cNvSpPr>
            <a:spLocks noGrp="1"/>
          </p:cNvSpPr>
          <p:nvPr/>
        </p:nvSpPr>
        <p:spPr>
          <a:xfrm>
            <a:off x="6705600" y="4305300"/>
            <a:ext cx="46196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(20 000 − 3 000 − 2 000) / 10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EDA626A3-C781-4382-9979-AD77EA619D9A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Условный пример без холдов. Эффект для пользователей проверим на пилоте.</a:t>
            </a:r>
          </a:p>
        </p:txBody>
      </p:sp>
    </p:spTree>
    <p:extLst>
      <p:ext uri="{BB962C8B-B14F-4D97-AF65-F5344CB8AC3E}">
        <p14:creationId xmlns:p14="http://schemas.microsoft.com/office/powerpoint/2010/main" val="160298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D644D0-3DBB-1D34-FFDE-699865B0949A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39900-E3F8-B423-1D91-AEDA6ED5A074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07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23AC839-088C-800A-C07E-E7EFC2B20FA8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900FA75-7B51-78BA-C469-71C723B6D618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104A54D-F4C4-6EC1-6BC0-5BC3779E6BD8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7DC6FF1-5B31-8BBF-CEA5-F04A2D0C055E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C043EF6-68A1-26B9-1A90-80D7952738DA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A73092C-48E3-FE2D-2DDA-314671BCB2FA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DBD3CEA-DB45-533C-F675-B3AA252F2340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A98F202-D5FE-85D9-1617-394A29177AFD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833D220-BC3C-E4EF-6A33-AEEEF55D3AAF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8E26C02-A69C-8DCF-15EA-0A20F76CFA80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D10AEEF-1C1D-6196-A8ED-080DF0CA4E44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8CF15D4-15EE-12A6-78B3-3F0ED065BAF9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CF8C52B-4582-59F7-2A19-E5AA8D3A9342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AA342C0-8EED-62C4-A982-D24EE7BE4492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D2C90BF-2D80-E4B4-62F9-0E3B7A1CC6D2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5556CD-EE91-AC2F-5587-D458DB0C422F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512EDD7-DB62-C172-F236-7CBEC7B6C161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27744A8-3666-84AF-23B6-20DE9942333D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74639A0-915A-1CA2-D63C-ED5B9DF5594D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B861A95-B934-5A10-39EF-511EFAE77723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530CDA2-4A70-2274-B6FE-81A337A4D40E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1783F43-53DA-22F9-8D60-B82B5AC358CA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F25574E-BEBC-FDEA-E813-F92CA5453B69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B4A53B2-F49E-9FE1-1C54-DDFB24C01179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D673A5C-960C-2FB9-03A1-C318A6FF38B3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0129FE1-6000-5148-72E8-035A7D4DBDD6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68B88AA-035E-CF13-9E96-1C955D52C9F7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0EA62EB-6878-E4A7-0485-6DBC7CE09F85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C59F86-AA8B-EECA-6E3A-95F5CAAE331E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Ключевые возможности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4FFB32DC-ACBD-4972-A0CE-F0FB6572975E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Импорт PDF и CSV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4430501-DC45-4DE9-8083-6E94CD815D94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Проверка строк до подтверждения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D7760C2-443D-4914-8AC4-3667B16D7747}"/>
              </a:ext>
            </a:extLst>
          </p:cNvPr>
          <p:cNvSpPr>
            <a:spLocks noGrp="1"/>
          </p:cNvSpPr>
          <p:nvPr/>
        </p:nvSpPr>
        <p:spPr>
          <a:xfrm>
            <a:off x="6324600" y="16764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Бюджет до поступления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21E9A0A-D5F5-4CE0-ADB5-E78A2A2050B9}"/>
              </a:ext>
            </a:extLst>
          </p:cNvPr>
          <p:cNvSpPr>
            <a:spLocks noGrp="1"/>
          </p:cNvSpPr>
          <p:nvPr/>
        </p:nvSpPr>
        <p:spPr>
          <a:xfrm>
            <a:off x="6324600" y="2143125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Платежи, резерв и дневной лимит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55ED4E1-6AA0-49C1-8799-571A8E97C5B3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Операции и аналитика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5359C7A-F48E-4E54-83C0-C53E7FF264A1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Категории расходов и история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31FA9B34-6656-48F7-A34A-0273F1C9B757}"/>
              </a:ext>
            </a:extLst>
          </p:cNvPr>
          <p:cNvSpPr>
            <a:spLocks noGrp="1"/>
          </p:cNvSpPr>
          <p:nvPr/>
        </p:nvSpPr>
        <p:spPr>
          <a:xfrm>
            <a:off x="6324600" y="30861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Учебный банковский API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FB584ADB-E7A8-45B5-A6EC-64CD4641AF09}"/>
              </a:ext>
            </a:extLst>
          </p:cNvPr>
          <p:cNvSpPr>
            <a:spLocks noGrp="1"/>
          </p:cNvSpPr>
          <p:nvPr/>
        </p:nvSpPr>
        <p:spPr>
          <a:xfrm>
            <a:off x="6324600" y="3552825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Счета, остатки и синхронизация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F2E85F88-5196-4475-A5DF-572E416B7A69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Предупреждения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4CDF260A-CA5E-4942-9029-D4A78085C7D7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Крупная покупка и превышение лимита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93F6A11D-8B81-4C8A-9D2E-A0598431DCA7}"/>
              </a:ext>
            </a:extLst>
          </p:cNvPr>
          <p:cNvSpPr>
            <a:spLocks noGrp="1"/>
          </p:cNvSpPr>
          <p:nvPr/>
        </p:nvSpPr>
        <p:spPr>
          <a:xfrm>
            <a:off x="6324600" y="44958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AI-помощник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1E3781F6-50C3-4B6E-ACF4-CAE7ACC5E3E7}"/>
              </a:ext>
            </a:extLst>
          </p:cNvPr>
          <p:cNvSpPr>
            <a:spLocks noGrp="1"/>
          </p:cNvSpPr>
          <p:nvPr/>
        </p:nvSpPr>
        <p:spPr>
          <a:xfrm>
            <a:off x="6324600" y="4962525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Объясняет расчётные показатели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36D94247-F568-443F-886C-95A66C826946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AC90"/>
                </a:solidFill>
                <a:latin typeface="Arial"/>
                <a:ea typeface="Arial"/>
                <a:cs typeface="Arial"/>
              </a:rPr>
              <a:t>Локальный MVP. Реальные банковские счета и платежи не подключены.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280193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84B0E2-BBA5-CE43-2543-85574D320A31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ГЛАВНОЕ ОТЛИЧИЕ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9A137-FAF5-F0BB-0F3D-4B6FDC1B9B9C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08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23B2A64-18F5-E291-1A6E-FEEA3E071C06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BA97DEB-3209-6C4F-1222-38F69B6F8645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C2A37FD-960B-EA9B-FBE4-A13DD79E66A3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F29764A-0A37-BF7A-D00A-B8A6DE76E105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0BFCA72-4940-49D5-F42E-4273E35A4A43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9693858-1E11-C515-0FF4-0E51805A1042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D393096-A2B0-6CC4-E411-4BCEE217562A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BB76C3D-02C0-16F2-034B-BCF6950BEACB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8B162A-1E45-3F79-B84C-9278FAC37B9D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FCF9285-84CD-CC8A-A2BB-8E77E3F8AF3F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1ECC5F7-9E77-3CC7-B4B4-1AB9E695A650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5C04CC1-C621-4BB7-563A-BDD786B564D9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9769C0F-0DFC-406C-03CF-248BEF4CF96E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75A6BB7-9ADE-53FF-33EF-D3328FD3836D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1CF1239-BA43-56D8-4E52-EC3367417E0F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274341B-0086-8359-F3F4-495680513874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2831725-310E-003B-660E-B62C33244B25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E3D8DF4-E120-1A63-ABE0-306191FA2426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521F739-4152-9755-7891-54D50BA29B17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3834688-7880-ADA2-4948-AFF17BEE31DA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6A58923-AA62-A71F-D9B0-ADA7D068D172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FCBE72C-8843-E76C-567A-8C4D749FC558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9B5C589-A8B9-00BD-8401-DBBCF2C6CB6C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58D8DFF-2D91-9160-7D0C-8986508CAD9B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AEFF877-9A21-1777-5831-E764827FB1B5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5728125-4E74-3463-FC12-98C6CCC7ABE8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CE4F64C-9681-DB7B-1FB2-4FC23738DEB7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8CC6418-743D-D9C8-9C98-BC096C8845EC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091AF9-D03D-A387-6A36-0B73C91FF6E8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30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Бюджет после каждой покупки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88D7D58A-0C16-37DF-608B-E9694CE5FBA4}"/>
              </a:ext>
            </a:extLst>
          </p:cNvPr>
          <p:cNvSpPr>
            <a:spLocks noGrp="1"/>
          </p:cNvSpPr>
          <p:nvPr/>
        </p:nvSpPr>
        <p:spPr>
          <a:xfrm>
            <a:off x="609600" y="1320800"/>
            <a:ext cx="6604000" cy="44450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F6D6F9-7A53-A14F-C08B-E5EDAADDF435}"/>
              </a:ext>
            </a:extLst>
          </p:cNvPr>
          <p:cNvSpPr>
            <a:spLocks noGrp="1"/>
          </p:cNvSpPr>
          <p:nvPr/>
        </p:nvSpPr>
        <p:spPr>
          <a:xfrm>
            <a:off x="965200" y="1625600"/>
            <a:ext cx="3810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КЛЮЧЕВАЯ ОСОБЕННОСТЬ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7AB334-E83C-1D97-3B27-1B9ED279A809}"/>
              </a:ext>
            </a:extLst>
          </p:cNvPr>
          <p:cNvSpPr>
            <a:spLocks noGrp="1"/>
          </p:cNvSpPr>
          <p:nvPr/>
        </p:nvSpPr>
        <p:spPr>
          <a:xfrm>
            <a:off x="965200" y="1905000"/>
            <a:ext cx="5892800" cy="1143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Покупка меняет</a:t>
            </a:r>
          </a:p>
          <a:p>
            <a:pPr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план на оставшиеся дни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4439CE-BB05-85AA-22EA-E95F3675CEB1}"/>
              </a:ext>
            </a:extLst>
          </p:cNvPr>
          <p:cNvSpPr>
            <a:spLocks noGrp="1"/>
          </p:cNvSpPr>
          <p:nvPr/>
        </p:nvSpPr>
        <p:spPr>
          <a:xfrm>
            <a:off x="965200" y="3251200"/>
            <a:ext cx="5892800" cy="1143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Новая операция уменьшает доступную сумму. finly пересчитывает дневной бюджет и обновляет открытый экран.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75DD55FA-F417-57F2-FC02-87E3AD6E8718}"/>
              </a:ext>
            </a:extLst>
          </p:cNvPr>
          <p:cNvSpPr>
            <a:spLocks noGrp="1"/>
          </p:cNvSpPr>
          <p:nvPr/>
        </p:nvSpPr>
        <p:spPr>
          <a:xfrm>
            <a:off x="965200" y="4673600"/>
            <a:ext cx="5892800" cy="736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EAB993-EA63-698E-0DC5-7FE12E42EBE7}"/>
              </a:ext>
            </a:extLst>
          </p:cNvPr>
          <p:cNvSpPr>
            <a:spLocks noGrp="1"/>
          </p:cNvSpPr>
          <p:nvPr/>
        </p:nvSpPr>
        <p:spPr>
          <a:xfrm>
            <a:off x="1219200" y="4800600"/>
            <a:ext cx="5384800" cy="1778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2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00" b="1" spc="150">
                <a:solidFill>
                  <a:srgbClr val="08AC90"/>
                </a:solidFill>
                <a:latin typeface="Arial"/>
                <a:ea typeface="Arial"/>
                <a:cs typeface="Arial"/>
              </a:rPr>
              <a:t>ПОКАЖЕМ НА ДЕМО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4A404D-A6FF-D615-DA5F-4BC95DA44369}"/>
              </a:ext>
            </a:extLst>
          </p:cNvPr>
          <p:cNvSpPr>
            <a:spLocks noGrp="1"/>
          </p:cNvSpPr>
          <p:nvPr/>
        </p:nvSpPr>
        <p:spPr>
          <a:xfrm>
            <a:off x="1219200" y="5029200"/>
            <a:ext cx="5384800" cy="254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72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Расход 12 000 ₽ изменит остаток и лимит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4D0987-F041-1882-B43E-5EA94F101509}"/>
              </a:ext>
            </a:extLst>
          </p:cNvPr>
          <p:cNvSpPr>
            <a:spLocks noGrp="1"/>
          </p:cNvSpPr>
          <p:nvPr/>
        </p:nvSpPr>
        <p:spPr>
          <a:xfrm>
            <a:off x="7518400" y="1320800"/>
            <a:ext cx="4064000" cy="1778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275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75" b="1" spc="150">
                <a:solidFill>
                  <a:srgbClr val="08AC90"/>
                </a:solidFill>
                <a:latin typeface="Arial"/>
                <a:ea typeface="Arial"/>
                <a:cs typeface="Arial"/>
              </a:rPr>
              <a:t>ФОКУС ПРОДУКТА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967FB96B-A6EE-E690-9DBB-7966D47161A9}"/>
              </a:ext>
            </a:extLst>
          </p:cNvPr>
          <p:cNvSpPr>
            <a:spLocks noGrp="1"/>
          </p:cNvSpPr>
          <p:nvPr/>
        </p:nvSpPr>
        <p:spPr>
          <a:xfrm>
            <a:off x="7518400" y="1625600"/>
            <a:ext cx="4064000" cy="19304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31BA54BD-5EE8-2EEF-0076-CCD1FADE455B}"/>
              </a:ext>
            </a:extLst>
          </p:cNvPr>
          <p:cNvSpPr>
            <a:spLocks noGrp="1"/>
          </p:cNvSpPr>
          <p:nvPr/>
        </p:nvSpPr>
        <p:spPr>
          <a:xfrm>
            <a:off x="7772400" y="18796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F110B5-BF8A-9CD9-7525-684F0A4EAFC9}"/>
              </a:ext>
            </a:extLst>
          </p:cNvPr>
          <p:cNvSpPr>
            <a:spLocks noGrp="1"/>
          </p:cNvSpPr>
          <p:nvPr/>
        </p:nvSpPr>
        <p:spPr>
          <a:xfrm>
            <a:off x="7772400" y="2387600"/>
            <a:ext cx="3556000" cy="254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До следующего поступления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D3A045-6F58-AB1D-C1AB-3E99EFCA92FD}"/>
              </a:ext>
            </a:extLst>
          </p:cNvPr>
          <p:cNvSpPr>
            <a:spLocks noGrp="1"/>
          </p:cNvSpPr>
          <p:nvPr/>
        </p:nvSpPr>
        <p:spPr>
          <a:xfrm>
            <a:off x="7772400" y="2717800"/>
            <a:ext cx="3556000" cy="7112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65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Планирование вокруг даты стипендии и известных обязательств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5231C5F1-695B-7DFC-0F7C-1FFAC9C9A504}"/>
              </a:ext>
            </a:extLst>
          </p:cNvPr>
          <p:cNvSpPr>
            <a:spLocks noGrp="1"/>
          </p:cNvSpPr>
          <p:nvPr/>
        </p:nvSpPr>
        <p:spPr>
          <a:xfrm>
            <a:off x="7518400" y="3759200"/>
            <a:ext cx="4064000" cy="19304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D4C1B504-3D8D-0637-1DB8-DA223FE1631B}"/>
              </a:ext>
            </a:extLst>
          </p:cNvPr>
          <p:cNvSpPr>
            <a:spLocks noGrp="1"/>
          </p:cNvSpPr>
          <p:nvPr/>
        </p:nvSpPr>
        <p:spPr>
          <a:xfrm>
            <a:off x="7772400" y="4013200"/>
            <a:ext cx="431800" cy="330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8BA849-EBEF-43DC-A451-81F89188BBE0}"/>
              </a:ext>
            </a:extLst>
          </p:cNvPr>
          <p:cNvSpPr>
            <a:spLocks noGrp="1"/>
          </p:cNvSpPr>
          <p:nvPr/>
        </p:nvSpPr>
        <p:spPr>
          <a:xfrm>
            <a:off x="7772400" y="4521200"/>
            <a:ext cx="3556000" cy="254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Объяснимые суммы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50B8CC-2CAD-8636-25C7-67EAC6757C7B}"/>
              </a:ext>
            </a:extLst>
          </p:cNvPr>
          <p:cNvSpPr>
            <a:spLocks noGrp="1"/>
          </p:cNvSpPr>
          <p:nvPr/>
        </p:nvSpPr>
        <p:spPr>
          <a:xfrm>
            <a:off x="7772400" y="4851400"/>
            <a:ext cx="3556000" cy="7112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65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Сервер считает бюджет. AI выбирает объяснения по этим данным.</a:t>
            </a:r>
          </a:p>
        </p:txBody>
      </p:sp>
    </p:spTree>
    <p:extLst>
      <p:ext uri="{BB962C8B-B14F-4D97-AF65-F5344CB8AC3E}">
        <p14:creationId xmlns:p14="http://schemas.microsoft.com/office/powerpoint/2010/main" val="35453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52A8FA-2092-457E-3280-3F68053C5E45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2C382-51D4-49F5-8358-BAD0D255D1AD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09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E09DBC5-86BA-CA7B-2FAA-857961E5DAE1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F3B09AB-9174-D36B-951F-5C706CE713A0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3194180-8BE1-D5BD-8659-1310948872B6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756EB55-DFA5-69A2-6A44-E3D91E821CD2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8C1280D-3E4D-D2E4-F2EE-5ABC6ACC0FBA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0CCD9BB-18A0-B425-294B-166D052BD7F0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6DC5417-1371-6668-54DE-446A5996A927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9A64FA6-02B6-B0DF-020D-36FBFC1E67D0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C1FB737-E6A6-3C01-22EE-D76FC4CAC01E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3C57E28-9357-12D3-9259-E0BAAF28E554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688EE07-F4D7-3AE7-5F68-E6BCC33026F1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B8E5EFE-4E84-5878-0732-D0FAA9292712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097696-C1ED-35D4-C464-9738C07544F6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F066E6A-3459-2031-85D2-E432C7662D08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8644A8A-6295-B751-6ACC-9E07915F2FC2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1EFFE68-616E-7D84-F880-EFEFB242CDF9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0FB814B-4E09-E75A-6102-57A51BA642C2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FC6135C-9645-7B9A-9014-6F90AC7C8739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6947C61-E56F-985B-4461-EF2C55DB2164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6DEC0BD-98BF-8DB4-8D65-F27844B8EFF8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B831DAA-56ED-AAD2-DACA-154B00A1BFB3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97A4B78-6E10-BD17-DE81-976DCE8CD945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613DB59-F43B-7790-BF71-3B939508EE59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10EC174-52C4-0825-9E4F-9E6669D7EB41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71E1B4E-F208-7713-C571-EE532F36A8C7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197D6AD-55AB-BD54-74D3-0333A347750A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D705E6F-070E-151D-32D5-28FE5FAD8895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8073DBB-3E53-5907-92C9-666649EB5725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833F4D-08D2-DDAC-5FB1-CB1862CE0F93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Как это работает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1CF8222-CC55-41E4-B301-8E2AC982174F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905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9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DBFF7B9-A221-4AA5-B753-8DBD3145B700}"/>
              </a:ext>
            </a:extLst>
          </p:cNvPr>
          <p:cNvSpPr>
            <a:spLocks noGrp="1"/>
          </p:cNvSpPr>
          <p:nvPr/>
        </p:nvSpPr>
        <p:spPr>
          <a:xfrm>
            <a:off x="609600" y="2543175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Загрузка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9DFE729-4C7A-4319-A9F6-65EEE18F1F43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2381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Выписка или учебный банк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143696D-B549-4912-A006-8EA339AA48D1}"/>
              </a:ext>
            </a:extLst>
          </p:cNvPr>
          <p:cNvSpPr>
            <a:spLocks noGrp="1"/>
          </p:cNvSpPr>
          <p:nvPr/>
        </p:nvSpPr>
        <p:spPr>
          <a:xfrm>
            <a:off x="3429000" y="1685925"/>
            <a:ext cx="1905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9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38985A63-5E4D-47A2-85F2-D9B4B9A90754}"/>
              </a:ext>
            </a:extLst>
          </p:cNvPr>
          <p:cNvSpPr>
            <a:spLocks noGrp="1"/>
          </p:cNvSpPr>
          <p:nvPr/>
        </p:nvSpPr>
        <p:spPr>
          <a:xfrm>
            <a:off x="3429000" y="2543175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BCA8483-0C00-42B2-9B99-5F274B9E982A}"/>
              </a:ext>
            </a:extLst>
          </p:cNvPr>
          <p:cNvSpPr>
            <a:spLocks noGrp="1"/>
          </p:cNvSpPr>
          <p:nvPr/>
        </p:nvSpPr>
        <p:spPr>
          <a:xfrm>
            <a:off x="3429000" y="3133725"/>
            <a:ext cx="2381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Операции и известный остаток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0B0DEA1C-67DA-4438-B010-9DE66FC748C8}"/>
              </a:ext>
            </a:extLst>
          </p:cNvPr>
          <p:cNvSpPr>
            <a:spLocks noGrp="1"/>
          </p:cNvSpPr>
          <p:nvPr/>
        </p:nvSpPr>
        <p:spPr>
          <a:xfrm>
            <a:off x="6248400" y="1685925"/>
            <a:ext cx="1905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9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95C99C7C-C955-49F7-BFCC-AFC57A2D471A}"/>
              </a:ext>
            </a:extLst>
          </p:cNvPr>
          <p:cNvSpPr>
            <a:spLocks noGrp="1"/>
          </p:cNvSpPr>
          <p:nvPr/>
        </p:nvSpPr>
        <p:spPr>
          <a:xfrm>
            <a:off x="6248400" y="2543175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План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75A3B59A-99D3-4ACF-B114-B1BC798F4357}"/>
              </a:ext>
            </a:extLst>
          </p:cNvPr>
          <p:cNvSpPr>
            <a:spLocks noGrp="1"/>
          </p:cNvSpPr>
          <p:nvPr/>
        </p:nvSpPr>
        <p:spPr>
          <a:xfrm>
            <a:off x="6248400" y="3133725"/>
            <a:ext cx="2381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Платежи, резерв и дата дохода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CF1C917D-984E-4CA2-BE03-60F491438264}"/>
              </a:ext>
            </a:extLst>
          </p:cNvPr>
          <p:cNvSpPr>
            <a:spLocks noGrp="1"/>
          </p:cNvSpPr>
          <p:nvPr/>
        </p:nvSpPr>
        <p:spPr>
          <a:xfrm>
            <a:off x="9067800" y="1685925"/>
            <a:ext cx="1905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9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D49B6E1-039D-4008-840C-C1DD8D2FE6AB}"/>
              </a:ext>
            </a:extLst>
          </p:cNvPr>
          <p:cNvSpPr>
            <a:spLocks noGrp="1"/>
          </p:cNvSpPr>
          <p:nvPr/>
        </p:nvSpPr>
        <p:spPr>
          <a:xfrm>
            <a:off x="9067800" y="2543175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33018C45-EBDE-447A-88A9-43462E17B95A}"/>
              </a:ext>
            </a:extLst>
          </p:cNvPr>
          <p:cNvSpPr>
            <a:spLocks noGrp="1"/>
          </p:cNvSpPr>
          <p:nvPr/>
        </p:nvSpPr>
        <p:spPr>
          <a:xfrm>
            <a:off x="9067800" y="3133725"/>
            <a:ext cx="2381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Дневной бюджет и объяснение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E4FCE51A-A19A-4D0B-8CCA-62A661DE68E4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75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КАК ПРИХОДЯТ ДАННЫЕ БАНКА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9FF603B6-E420-4CCD-91C3-1D82D8F69DFF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Вход и токен   /   Счета и операции   /   Остатки   /   Пересчёт бюджета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CCD09CB0-41EF-4E79-A695-FBF5232BE18F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Опрос банка каждые 15 секунд. События SSE обновляют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2363423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9AF0EA-3893-25ED-4B51-D9A60A735B08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E067A4-A2D6-ADFA-4F31-D1F5656763F0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10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C7B47C-7408-3FF4-156A-0CD3D73F7321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61B322C-1D7B-CC04-7E36-B09048B74CF3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9F17F71-6218-69E5-05B1-EEE247C10938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35A30F7-ED53-AC9D-34FB-4F6925F3C51C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6A0A320-EE7E-94CD-926F-B635F41512FD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FE5F157-ECEC-F3BA-AC01-B9A45577ED7E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01AE495-B83D-BFBA-9E32-137DCA2E4598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621DC9-3A43-2057-CB99-29031D4CE09F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E7A7406-D636-75EE-DE77-4320E29C403E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2636A01-5FA0-1877-8CD7-B6A7B565A609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7DA5A7F-18ED-1943-CD32-133FFAE3DEE0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A2B505B-D50B-A589-5852-619B14C50AF8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70926D9-6D6C-524D-5CE5-D96A51C50F59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106AF4B-E091-8C73-1A44-61D7A70A6563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8C0B827-25E2-6D1F-51B5-73FF7751497F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ED21031-2AF0-1DA6-03A7-CC62A4EF8193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EA49635-2F7F-234A-3BD4-33D753A0C9FC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D0ABB53-38A5-8938-FDB5-649BFE76AC9D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9823465-39A0-6EBA-E640-7C673001CCF2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3237425-D3A1-C61B-2C53-5686F6837445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C3537D7-FA97-643C-A3AE-E34FA7EBECBD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03B2ECC-1484-BFE6-7B9D-11C1BC44AD55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361B713-DA77-10B9-A687-1D2648CDE3A3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BB85CCA-6935-AD28-8D58-E6F058B59E31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CB25BFA-8EED-A1CC-B5FB-D93D589F08AA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990E04E-D57B-D175-BBB8-26F81DAA2C08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D6B8225-2A81-901A-AFE2-6C4934A03F7D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A833F5E4-357F-260D-F5F4-7B17B46CCB3A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8495C1-04CD-2622-03E6-2C0033777545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477500" cy="55245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30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Рабочий прототип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8515288-D36C-7503-11A5-D6602490E9D4}"/>
              </a:ext>
            </a:extLst>
          </p:cNvPr>
          <p:cNvSpPr>
            <a:spLocks noGrp="1"/>
          </p:cNvSpPr>
          <p:nvPr/>
        </p:nvSpPr>
        <p:spPr>
          <a:xfrm>
            <a:off x="609599" y="1320800"/>
            <a:ext cx="7072745" cy="444500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5875">
            <a:solidFill>
              <a:srgbClr val="9FB3C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0D47CA82-D99E-75E6-8E9D-75D9299071CC}"/>
              </a:ext>
            </a:extLst>
          </p:cNvPr>
          <p:cNvSpPr>
            <a:spLocks noGrp="1"/>
          </p:cNvSpPr>
          <p:nvPr/>
        </p:nvSpPr>
        <p:spPr>
          <a:xfrm>
            <a:off x="7924800" y="1320800"/>
            <a:ext cx="3657600" cy="4445000"/>
          </a:xfrm>
          <a:prstGeom prst="roundRect">
            <a:avLst>
              <a:gd name="adj" fmla="val 7000"/>
            </a:avLst>
          </a:prstGeom>
          <a:solidFill>
            <a:srgbClr val="0F1B3D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CD6B02-9A64-74F6-3F56-1AADBD928CA1}"/>
              </a:ext>
            </a:extLst>
          </p:cNvPr>
          <p:cNvSpPr>
            <a:spLocks noGrp="1"/>
          </p:cNvSpPr>
          <p:nvPr/>
        </p:nvSpPr>
        <p:spPr>
          <a:xfrm>
            <a:off x="8229600" y="1600200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2400">
                <a:solidFill>
                  <a:srgbClr val="7FE3C4"/>
                </a:solidFill>
                <a:latin typeface="Arial Black"/>
                <a:ea typeface="Arial Black"/>
                <a:cs typeface="Arial Black"/>
              </a:rPr>
              <a:t>MVP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7E5ABA-3DEC-CBAB-E980-B1DC8764FF97}"/>
              </a:ext>
            </a:extLst>
          </p:cNvPr>
          <p:cNvSpPr>
            <a:spLocks noGrp="1"/>
          </p:cNvSpPr>
          <p:nvPr/>
        </p:nvSpPr>
        <p:spPr>
          <a:xfrm>
            <a:off x="8229600" y="2235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7FE3C4"/>
                </a:solidFill>
                <a:latin typeface="Arial"/>
                <a:ea typeface="Arial"/>
                <a:cs typeface="Arial"/>
              </a:rPr>
              <a:t>ЧТО УЖЕ РАБОТАЕТ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A1FE16-3F36-72E8-0F5C-09E6BEA6A814}"/>
              </a:ext>
            </a:extLst>
          </p:cNvPr>
          <p:cNvSpPr>
            <a:spLocks noGrp="1"/>
          </p:cNvSpPr>
          <p:nvPr/>
        </p:nvSpPr>
        <p:spPr>
          <a:xfrm>
            <a:off x="8229600" y="2463800"/>
            <a:ext cx="3048000" cy="635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Импорт, аналитика, бюджет и обновления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E8EBB8-DF49-7ADF-F234-28D22DDEEF49}"/>
              </a:ext>
            </a:extLst>
          </p:cNvPr>
          <p:cNvSpPr>
            <a:spLocks noGrp="1"/>
          </p:cNvSpPr>
          <p:nvPr/>
        </p:nvSpPr>
        <p:spPr>
          <a:xfrm>
            <a:off x="8229600" y="3378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7FE3C4"/>
                </a:solidFill>
                <a:latin typeface="Arial"/>
                <a:ea typeface="Arial"/>
                <a:cs typeface="Arial"/>
              </a:rPr>
              <a:t>ЧТО ПОКАЖЕМ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096BCB-59EF-F856-3055-CE5A5F7EC10A}"/>
              </a:ext>
            </a:extLst>
          </p:cNvPr>
          <p:cNvSpPr>
            <a:spLocks noGrp="1"/>
          </p:cNvSpPr>
          <p:nvPr/>
        </p:nvSpPr>
        <p:spPr>
          <a:xfrm>
            <a:off x="8229600" y="3606800"/>
            <a:ext cx="3048000" cy="635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Покупку на 12 000 ₽ и изменение лимита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4F98D3-F880-70C0-A74F-ECBAAD1613DA}"/>
              </a:ext>
            </a:extLst>
          </p:cNvPr>
          <p:cNvSpPr>
            <a:spLocks noGrp="1"/>
          </p:cNvSpPr>
          <p:nvPr/>
        </p:nvSpPr>
        <p:spPr>
          <a:xfrm>
            <a:off x="8229600" y="4521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50">
                <a:solidFill>
                  <a:srgbClr val="7FE3C4"/>
                </a:solidFill>
                <a:latin typeface="Arial"/>
                <a:ea typeface="Arial"/>
                <a:cs typeface="Arial"/>
              </a:rPr>
              <a:t>СЦЕНАРИЙ ВЖИВУЮ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5D7719-9690-932A-E36A-42C4FD4BB9AA}"/>
              </a:ext>
            </a:extLst>
          </p:cNvPr>
          <p:cNvSpPr>
            <a:spLocks noGrp="1"/>
          </p:cNvSpPr>
          <p:nvPr/>
        </p:nvSpPr>
        <p:spPr>
          <a:xfrm>
            <a:off x="8229600" y="4749800"/>
            <a:ext cx="3048000" cy="635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Две вкладки: лаборатория и обзор</a:t>
            </a:r>
          </a:p>
        </p:txBody>
      </p:sp>
      <p:pic>
        <p:nvPicPr>
          <p:cNvPr id="90" name="Рисунок 8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6168" y="1514475"/>
            <a:ext cx="6854413" cy="3857625"/>
          </a:xfrm>
          <a:prstGeom prst="rect">
            <a:avLst/>
          </a:prstGeom>
        </p:spPr>
      </p:pic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17B4ACB6-44CC-4DD1-AC26-2A04D703C32C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Скриншот работающего приложения на синтетических данных симулятора</a:t>
            </a:r>
          </a:p>
        </p:txBody>
      </p:sp>
    </p:spTree>
    <p:extLst>
      <p:ext uri="{BB962C8B-B14F-4D97-AF65-F5344CB8AC3E}">
        <p14:creationId xmlns:p14="http://schemas.microsoft.com/office/powerpoint/2010/main" val="1953851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52A8FA-2092-457E-3280-3F68053C5E45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2C382-51D4-49F5-8358-BAD0D255D1AD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11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E09DBC5-86BA-CA7B-2FAA-857961E5DAE1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F3B09AB-9174-D36B-951F-5C706CE713A0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3194180-8BE1-D5BD-8659-1310948872B6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756EB55-DFA5-69A2-6A44-E3D91E821CD2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8C1280D-3E4D-D2E4-F2EE-5ABC6ACC0FBA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0CCD9BB-18A0-B425-294B-166D052BD7F0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6DC5417-1371-6668-54DE-446A5996A927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9A64FA6-02B6-B0DF-020D-36FBFC1E67D0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C1FB737-E6A6-3C01-22EE-D76FC4CAC01E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3C57E28-9357-12D3-9259-E0BAAF28E554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688EE07-F4D7-3AE7-5F68-E6BCC33026F1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B8E5EFE-4E84-5878-0732-D0FAA9292712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097696-C1ED-35D4-C464-9738C07544F6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F066E6A-3459-2031-85D2-E432C7662D08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8644A8A-6295-B751-6ACC-9E07915F2FC2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1EFFE68-616E-7D84-F880-EFEFB242CDF9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0FB814B-4E09-E75A-6102-57A51BA642C2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FC6135C-9645-7B9A-9014-6F90AC7C8739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6947C61-E56F-985B-4461-EF2C55DB2164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6DEC0BD-98BF-8DB4-8D65-F27844B8EFF8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B831DAA-56ED-AAD2-DACA-154B00A1BFB3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97A4B78-6E10-BD17-DE81-976DCE8CD945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613DB59-F43B-7790-BF71-3B939508EE59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10EC174-52C4-0825-9E4F-9E6669D7EB41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71E1B4E-F208-7713-C571-EE532F36A8C7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197D6AD-55AB-BD54-74D3-0333A347750A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D705E6F-070E-151D-32D5-28FE5FAD8895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8073DBB-3E53-5907-92C9-666649EB5725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833F4D-08D2-DDAC-5FB1-CB1862CE0F93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defRPr sz="3000" b="1">
                <a:solidFill>
                  <a:srgbClr val="121D40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>
                <a:solidFill>
                  <a:srgbClr val="121D40"/>
                </a:solidFill>
                <a:latin typeface="Arial Black"/>
                <a:ea typeface="Arial Black"/>
                <a:cs typeface="Arial Black"/>
              </a:rPr>
              <a:t>Альтернативы и фокус finly</a:t>
            </a:r>
          </a:p>
        </p:txBody>
      </p:sp>
      <p:graphicFrame>
        <p:nvGraphicFramePr>
          <p:cNvPr id="68" name="Таблица 67"/>
          <p:cNvGraphicFramePr/>
          <p:nvPr/>
        </p:nvGraphicFramePr>
        <p:xfrm>
          <a:off x="609600" y="1790700"/>
          <a:ext cx="10972800" cy="3371852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29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Решение</a:t>
                      </a:r>
                    </a:p>
                  </a:txBody>
                  <a:tcPr>
                    <a:solidFill>
                      <a:srgbClr val="121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Возможности</a:t>
                      </a:r>
                    </a:p>
                  </a:txBody>
                  <a:tcPr>
                    <a:solidFill>
                      <a:srgbClr val="121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Наш фокус</a:t>
                      </a:r>
                    </a:p>
                  </a:txBody>
                  <a:tcPr>
                    <a:solidFill>
                      <a:srgbClr val="121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29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Дзен-мани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Учёт и планирование бюджета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Студенческий сценарий</a:t>
                      </a:r>
                    </a:p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до следующего поступления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29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CoinKeeper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Учёт расходов и лимиты</a:t>
                      </a:r>
                    </a:p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по категориям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Реакция дневного бюджета</a:t>
                      </a:r>
                    </a:p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на новую операцию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29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finly MVP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Выписки, учебный банк</a:t>
                      </a:r>
                    </a:p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и расчёт бюджета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Проверяем востребованность</a:t>
                      </a:r>
                    </a:p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на студенческой аудитории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A7E8265-9AA8-4721-BC42-B8579E059FA7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Гипотеза отличия: удобство сценария для студента со смешанным доходом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865AD417-0E82-4721-B9F0-A2DD62CBCE43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Преимущество и готовность платить ещё предстоит проверить на пилоте.</a:t>
            </a:r>
          </a:p>
        </p:txBody>
      </p:sp>
    </p:spTree>
    <p:extLst>
      <p:ext uri="{BB962C8B-B14F-4D97-AF65-F5344CB8AC3E}">
        <p14:creationId xmlns:p14="http://schemas.microsoft.com/office/powerpoint/2010/main" val="2363423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3C7C5-F112-A241-5555-A9972866D94D}"/>
              </a:ext>
            </a:extLst>
          </p:cNvPr>
          <p:cNvSpPr>
            <a:spLocks noGrp="1"/>
          </p:cNvSpPr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057A4F-FFC5-0531-4AA1-25362CF2F00C}"/>
              </a:ext>
            </a:extLst>
          </p:cNvPr>
          <p:cNvSpPr>
            <a:spLocks noGrp="1"/>
          </p:cNvSpPr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12 / 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ACF34C2-D1B4-9836-CF8A-D877CA27575F}"/>
              </a:ext>
            </a:extLst>
          </p:cNvPr>
          <p:cNvSpPr>
            <a:spLocks noGrp="1"/>
          </p:cNvSpPr>
          <p:nvPr/>
        </p:nvSpPr>
        <p:spPr>
          <a:xfrm>
            <a:off x="1138936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E3DB0D1-4317-1EB8-9D87-AA8E74AECE58}"/>
              </a:ext>
            </a:extLst>
          </p:cNvPr>
          <p:cNvSpPr>
            <a:spLocks noGrp="1"/>
          </p:cNvSpPr>
          <p:nvPr/>
        </p:nvSpPr>
        <p:spPr>
          <a:xfrm>
            <a:off x="114071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F03C2C8-B464-ABE3-3804-7E306DB4D808}"/>
              </a:ext>
            </a:extLst>
          </p:cNvPr>
          <p:cNvSpPr>
            <a:spLocks noGrp="1"/>
          </p:cNvSpPr>
          <p:nvPr/>
        </p:nvSpPr>
        <p:spPr>
          <a:xfrm>
            <a:off x="114249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689A18-A8BD-5F85-C350-770D38DFDF60}"/>
              </a:ext>
            </a:extLst>
          </p:cNvPr>
          <p:cNvSpPr>
            <a:spLocks noGrp="1"/>
          </p:cNvSpPr>
          <p:nvPr/>
        </p:nvSpPr>
        <p:spPr>
          <a:xfrm>
            <a:off x="1149604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E75A7A9-BA9F-7300-AC15-2AE5737F3D5D}"/>
              </a:ext>
            </a:extLst>
          </p:cNvPr>
          <p:cNvSpPr>
            <a:spLocks noGrp="1"/>
          </p:cNvSpPr>
          <p:nvPr/>
        </p:nvSpPr>
        <p:spPr>
          <a:xfrm>
            <a:off x="1151382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F7ED531-5407-5F75-B6FD-A9455442BE61}"/>
              </a:ext>
            </a:extLst>
          </p:cNvPr>
          <p:cNvSpPr>
            <a:spLocks noGrp="1"/>
          </p:cNvSpPr>
          <p:nvPr/>
        </p:nvSpPr>
        <p:spPr>
          <a:xfrm>
            <a:off x="11531600" y="55880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E74FF39-FE56-18EC-28B5-4A1900D72D42}"/>
              </a:ext>
            </a:extLst>
          </p:cNvPr>
          <p:cNvSpPr>
            <a:spLocks noGrp="1"/>
          </p:cNvSpPr>
          <p:nvPr/>
        </p:nvSpPr>
        <p:spPr>
          <a:xfrm>
            <a:off x="113715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CCCBF7B-A2D3-B372-2F50-2A8E5AA9F88B}"/>
              </a:ext>
            </a:extLst>
          </p:cNvPr>
          <p:cNvSpPr>
            <a:spLocks noGrp="1"/>
          </p:cNvSpPr>
          <p:nvPr/>
        </p:nvSpPr>
        <p:spPr>
          <a:xfrm>
            <a:off x="1144270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9DA643B-33CB-EA2F-7E8D-5B8EC797D4FF}"/>
              </a:ext>
            </a:extLst>
          </p:cNvPr>
          <p:cNvSpPr>
            <a:spLocks noGrp="1"/>
          </p:cNvSpPr>
          <p:nvPr/>
        </p:nvSpPr>
        <p:spPr>
          <a:xfrm>
            <a:off x="11478260" y="5765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453158D-4AA3-0E95-5889-07E88E0860BD}"/>
              </a:ext>
            </a:extLst>
          </p:cNvPr>
          <p:cNvSpPr>
            <a:spLocks noGrp="1"/>
          </p:cNvSpPr>
          <p:nvPr/>
        </p:nvSpPr>
        <p:spPr>
          <a:xfrm>
            <a:off x="11549380" y="57658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75B89D-0A53-190A-B764-C34C241C04DB}"/>
              </a:ext>
            </a:extLst>
          </p:cNvPr>
          <p:cNvSpPr>
            <a:spLocks noGrp="1"/>
          </p:cNvSpPr>
          <p:nvPr/>
        </p:nvSpPr>
        <p:spPr>
          <a:xfrm>
            <a:off x="1135380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E740332-4E8D-6217-99D2-C72C1101A4B4}"/>
              </a:ext>
            </a:extLst>
          </p:cNvPr>
          <p:cNvSpPr>
            <a:spLocks noGrp="1"/>
          </p:cNvSpPr>
          <p:nvPr/>
        </p:nvSpPr>
        <p:spPr>
          <a:xfrm>
            <a:off x="11460480" y="59436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95514AB-DA45-AC4B-83BB-7049037B300D}"/>
              </a:ext>
            </a:extLst>
          </p:cNvPr>
          <p:cNvSpPr>
            <a:spLocks noGrp="1"/>
          </p:cNvSpPr>
          <p:nvPr/>
        </p:nvSpPr>
        <p:spPr>
          <a:xfrm>
            <a:off x="11567160" y="5943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C9D1794-E6EA-BE16-F559-20DC4F68D37C}"/>
              </a:ext>
            </a:extLst>
          </p:cNvPr>
          <p:cNvSpPr>
            <a:spLocks noGrp="1"/>
          </p:cNvSpPr>
          <p:nvPr/>
        </p:nvSpPr>
        <p:spPr>
          <a:xfrm>
            <a:off x="1135380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EB048D5-3BB3-F546-4FD5-EFD68169E17D}"/>
              </a:ext>
            </a:extLst>
          </p:cNvPr>
          <p:cNvSpPr>
            <a:spLocks noGrp="1"/>
          </p:cNvSpPr>
          <p:nvPr/>
        </p:nvSpPr>
        <p:spPr>
          <a:xfrm>
            <a:off x="11567160" y="6121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655959D-B556-8E3A-EAE1-26441E39BCE0}"/>
              </a:ext>
            </a:extLst>
          </p:cNvPr>
          <p:cNvSpPr>
            <a:spLocks noGrp="1"/>
          </p:cNvSpPr>
          <p:nvPr/>
        </p:nvSpPr>
        <p:spPr>
          <a:xfrm>
            <a:off x="1135380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1CA9D4B-4C85-A36B-6140-D126A6E36C94}"/>
              </a:ext>
            </a:extLst>
          </p:cNvPr>
          <p:cNvSpPr>
            <a:spLocks noGrp="1"/>
          </p:cNvSpPr>
          <p:nvPr/>
        </p:nvSpPr>
        <p:spPr>
          <a:xfrm>
            <a:off x="11567160" y="6299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82C7C1B-F4AE-5BE5-E24D-BE1A71D88E57}"/>
              </a:ext>
            </a:extLst>
          </p:cNvPr>
          <p:cNvSpPr>
            <a:spLocks noGrp="1"/>
          </p:cNvSpPr>
          <p:nvPr/>
        </p:nvSpPr>
        <p:spPr>
          <a:xfrm>
            <a:off x="113715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6D0FE89-E0A7-D1DF-6CFC-40163D230113}"/>
              </a:ext>
            </a:extLst>
          </p:cNvPr>
          <p:cNvSpPr>
            <a:spLocks noGrp="1"/>
          </p:cNvSpPr>
          <p:nvPr/>
        </p:nvSpPr>
        <p:spPr>
          <a:xfrm>
            <a:off x="11549380" y="6477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2D1D948-A0B7-7356-2057-716CAD2BC2A2}"/>
              </a:ext>
            </a:extLst>
          </p:cNvPr>
          <p:cNvSpPr>
            <a:spLocks noGrp="1"/>
          </p:cNvSpPr>
          <p:nvPr/>
        </p:nvSpPr>
        <p:spPr>
          <a:xfrm>
            <a:off x="1138936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FBD34DD-523E-1972-4FC0-96A2D5C1D3E5}"/>
              </a:ext>
            </a:extLst>
          </p:cNvPr>
          <p:cNvSpPr>
            <a:spLocks noGrp="1"/>
          </p:cNvSpPr>
          <p:nvPr/>
        </p:nvSpPr>
        <p:spPr>
          <a:xfrm>
            <a:off x="11531600" y="66548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AE3E6BB-ED01-DA81-D7C3-1CFB4FB5AA82}"/>
              </a:ext>
            </a:extLst>
          </p:cNvPr>
          <p:cNvSpPr>
            <a:spLocks noGrp="1"/>
          </p:cNvSpPr>
          <p:nvPr/>
        </p:nvSpPr>
        <p:spPr>
          <a:xfrm>
            <a:off x="1140714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B6E3A25-CE80-CA94-B735-114B17376867}"/>
              </a:ext>
            </a:extLst>
          </p:cNvPr>
          <p:cNvSpPr>
            <a:spLocks noGrp="1"/>
          </p:cNvSpPr>
          <p:nvPr/>
        </p:nvSpPr>
        <p:spPr>
          <a:xfrm>
            <a:off x="11513820" y="68326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44B231D-2F79-EEC3-FDF0-4B5CBE08CD90}"/>
              </a:ext>
            </a:extLst>
          </p:cNvPr>
          <p:cNvSpPr>
            <a:spLocks noGrp="1"/>
          </p:cNvSpPr>
          <p:nvPr/>
        </p:nvSpPr>
        <p:spPr>
          <a:xfrm>
            <a:off x="1142492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F791778-8DF6-41F9-3372-1DE070DAC782}"/>
              </a:ext>
            </a:extLst>
          </p:cNvPr>
          <p:cNvSpPr>
            <a:spLocks noGrp="1"/>
          </p:cNvSpPr>
          <p:nvPr/>
        </p:nvSpPr>
        <p:spPr>
          <a:xfrm>
            <a:off x="11496040" y="70104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C474C6F-85D8-C3A1-5B65-AC3470692380}"/>
              </a:ext>
            </a:extLst>
          </p:cNvPr>
          <p:cNvSpPr>
            <a:spLocks noGrp="1"/>
          </p:cNvSpPr>
          <p:nvPr/>
        </p:nvSpPr>
        <p:spPr>
          <a:xfrm>
            <a:off x="1144270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556F8C2-7A93-3C60-6261-A119BA05B2D0}"/>
              </a:ext>
            </a:extLst>
          </p:cNvPr>
          <p:cNvSpPr>
            <a:spLocks noGrp="1"/>
          </p:cNvSpPr>
          <p:nvPr/>
        </p:nvSpPr>
        <p:spPr>
          <a:xfrm>
            <a:off x="11478260" y="718820"/>
            <a:ext cx="17780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7695848-2C3B-5FDC-EA20-A1BF5BF9EB7D}"/>
              </a:ext>
            </a:extLst>
          </p:cNvPr>
          <p:cNvSpPr>
            <a:spLocks noGrp="1"/>
          </p:cNvSpPr>
          <p:nvPr/>
        </p:nvSpPr>
        <p:spPr>
          <a:xfrm>
            <a:off x="11460480" y="736600"/>
            <a:ext cx="17781" cy="17780"/>
          </a:xfrm>
          <a:prstGeom prst="rect">
            <a:avLst/>
          </a:prstGeom>
          <a:solidFill>
            <a:srgbClr val="22A889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EB5353-F6CE-0869-F7DA-127DD7F8B113}"/>
              </a:ext>
            </a:extLst>
          </p:cNvPr>
          <p:cNvSpPr>
            <a:spLocks noGrp="1"/>
          </p:cNvSpPr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Развитие проекта</a:t>
            </a:r>
          </a:p>
        </p:txBody>
      </p:sp>
      <p:sp>
        <p:nv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A986C90C-CA47-46C7-9E77-8C12CFDD4930}"/>
              </a:ext>
            </a:extLst>
          </p:cNvPr>
          <p:cNvSpPr>
            <a:spLocks noGrp="1"/>
          </p:cNvSpPr>
          <p:nvPr/>
        </p:nvSpPr>
        <p:spPr>
          <a:xfrm>
            <a:off x="889000" y="1905000"/>
            <a:ext cx="10414000" cy="0"/>
          </a:xfrm>
          <a:prstGeom prst="line">
            <a:avLst/>
          </a:prstGeom>
          <a:ln w="25400">
            <a:solidFill>
              <a:srgbClr val="DC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3BBDDE2D-D02D-BBAE-4CF7-70F759715D79}"/>
              </a:ext>
            </a:extLst>
          </p:cNvPr>
          <p:cNvSpPr>
            <a:spLocks noGrp="1"/>
          </p:cNvSpPr>
          <p:nvPr/>
        </p:nvSpPr>
        <p:spPr>
          <a:xfrm>
            <a:off x="863600" y="1778000"/>
            <a:ext cx="254000" cy="254000"/>
          </a:xfrm>
          <a:prstGeom prst="ellipse">
            <a:avLst/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4E202490-797A-8B50-DE75-671C4A43B7FD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1C3D01-4565-CC40-1A1D-6E905D29A9AA}"/>
              </a:ext>
            </a:extLst>
          </p:cNvPr>
          <p:cNvSpPr>
            <a:spLocks noGrp="1"/>
          </p:cNvSpPr>
          <p:nvPr/>
        </p:nvSpPr>
        <p:spPr>
          <a:xfrm>
            <a:off x="889000" y="2565400"/>
            <a:ext cx="2962910" cy="1778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2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00" b="1" spc="150">
                <a:solidFill>
                  <a:srgbClr val="08AC90"/>
                </a:solidFill>
                <a:latin typeface="Arial"/>
                <a:ea typeface="Arial"/>
                <a:cs typeface="Arial"/>
              </a:rPr>
              <a:t>01  ХАКАТОН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D8A359-52A2-D002-4C89-698F59764DB7}"/>
              </a:ext>
            </a:extLst>
          </p:cNvPr>
          <p:cNvSpPr>
            <a:spLocks noGrp="1"/>
          </p:cNvSpPr>
          <p:nvPr/>
        </p:nvSpPr>
        <p:spPr>
          <a:xfrm>
            <a:off x="889000" y="2946400"/>
            <a:ext cx="2962910" cy="762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17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Рабочий MVP</a:t>
            </a:r>
            <a:endParaRPr b="1">
              <a:solidFill>
                <a:srgbClr val="0F1B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6B724A-0803-6903-B2FA-805287FBEC62}"/>
              </a:ext>
            </a:extLst>
          </p:cNvPr>
          <p:cNvSpPr>
            <a:spLocks noGrp="1"/>
          </p:cNvSpPr>
          <p:nvPr/>
        </p:nvSpPr>
        <p:spPr>
          <a:xfrm>
            <a:off x="889000" y="3810000"/>
            <a:ext cx="2962910" cy="1524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Импорт выписок, учебный банк, бюджет, события и объяснения</a:t>
            </a: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903968FD-882B-E7D6-11F8-2F37A233B2F5}"/>
              </a:ext>
            </a:extLst>
          </p:cNvPr>
          <p:cNvSpPr>
            <a:spLocks noGrp="1"/>
          </p:cNvSpPr>
          <p:nvPr/>
        </p:nvSpPr>
        <p:spPr>
          <a:xfrm>
            <a:off x="4588510" y="1778000"/>
            <a:ext cx="254000" cy="254000"/>
          </a:xfrm>
          <a:prstGeom prst="ellipse">
            <a:avLst/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680C7A71-F7E4-FD06-CC74-B19745CE15DC}"/>
              </a:ext>
            </a:extLst>
          </p:cNvPr>
          <p:cNvSpPr>
            <a:spLocks noGrp="1"/>
          </p:cNvSpPr>
          <p:nvPr/>
        </p:nvSpPr>
        <p:spPr>
          <a:xfrm>
            <a:off x="433451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FABF28-7B82-8842-4F45-E6B40DC12AC5}"/>
              </a:ext>
            </a:extLst>
          </p:cNvPr>
          <p:cNvSpPr>
            <a:spLocks noGrp="1"/>
          </p:cNvSpPr>
          <p:nvPr/>
        </p:nvSpPr>
        <p:spPr>
          <a:xfrm>
            <a:off x="4613910" y="2565400"/>
            <a:ext cx="2962910" cy="1778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2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00" b="1" spc="150">
                <a:solidFill>
                  <a:srgbClr val="08AC90"/>
                </a:solidFill>
                <a:latin typeface="Arial"/>
                <a:ea typeface="Arial"/>
                <a:cs typeface="Arial"/>
              </a:rPr>
              <a:t>02  БЛИЖАЙШИЙ ЭТАП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069D35-8C66-02ED-750A-40AD0E43632A}"/>
              </a:ext>
            </a:extLst>
          </p:cNvPr>
          <p:cNvSpPr>
            <a:spLocks noGrp="1"/>
          </p:cNvSpPr>
          <p:nvPr/>
        </p:nvSpPr>
        <p:spPr>
          <a:xfrm>
            <a:off x="4613910" y="2946400"/>
            <a:ext cx="2962910" cy="762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17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Пилот со студентами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421FBE-0DE8-BA50-AD7F-171A7115DBCF}"/>
              </a:ext>
            </a:extLst>
          </p:cNvPr>
          <p:cNvSpPr>
            <a:spLocks noGrp="1"/>
          </p:cNvSpPr>
          <p:nvPr/>
        </p:nvSpPr>
        <p:spPr>
          <a:xfrm>
            <a:off x="4613910" y="3810000"/>
            <a:ext cx="2962910" cy="1524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Проверить понятность лимита, повторное использование и готовность платить за автоматизацию</a:t>
            </a:r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00F86E36-DAE0-BFF2-354D-7B807A915282}"/>
              </a:ext>
            </a:extLst>
          </p:cNvPr>
          <p:cNvSpPr>
            <a:spLocks noGrp="1"/>
          </p:cNvSpPr>
          <p:nvPr/>
        </p:nvSpPr>
        <p:spPr>
          <a:xfrm>
            <a:off x="8313420" y="1778000"/>
            <a:ext cx="254000" cy="254000"/>
          </a:xfrm>
          <a:prstGeom prst="ellipse">
            <a:avLst/>
          </a:prstGeom>
          <a:gradFill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C347244A-AC82-DC48-7311-A94C4635A6B8}"/>
              </a:ext>
            </a:extLst>
          </p:cNvPr>
          <p:cNvSpPr>
            <a:spLocks noGrp="1"/>
          </p:cNvSpPr>
          <p:nvPr/>
        </p:nvSpPr>
        <p:spPr>
          <a:xfrm>
            <a:off x="805942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D0AC93-A645-23C6-3909-CF969B15C369}"/>
              </a:ext>
            </a:extLst>
          </p:cNvPr>
          <p:cNvSpPr>
            <a:spLocks noGrp="1"/>
          </p:cNvSpPr>
          <p:nvPr/>
        </p:nvSpPr>
        <p:spPr>
          <a:xfrm>
            <a:off x="8338820" y="2565400"/>
            <a:ext cx="2962910" cy="1778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2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00" b="1" spc="150">
                <a:solidFill>
                  <a:srgbClr val="08AC90"/>
                </a:solidFill>
                <a:latin typeface="Arial"/>
                <a:ea typeface="Arial"/>
                <a:cs typeface="Arial"/>
              </a:rPr>
              <a:t>03  ПОСЛЕ ПРОВЕРКИ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A285FE-1752-EF37-1BD5-E49344F109F8}"/>
              </a:ext>
            </a:extLst>
          </p:cNvPr>
          <p:cNvSpPr>
            <a:spLocks noGrp="1"/>
          </p:cNvSpPr>
          <p:nvPr/>
        </p:nvSpPr>
        <p:spPr>
          <a:xfrm>
            <a:off x="8338820" y="2946400"/>
            <a:ext cx="2962910" cy="762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217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Партнёрства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D3F2C1-D63A-E826-311A-F1EFF3A27F1B}"/>
              </a:ext>
            </a:extLst>
          </p:cNvPr>
          <p:cNvSpPr>
            <a:spLocks noGrp="1"/>
          </p:cNvSpPr>
          <p:nvPr/>
        </p:nvSpPr>
        <p:spPr>
          <a:xfrm>
            <a:off x="8338820" y="3810000"/>
            <a:ext cx="2962910" cy="1524000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Обсудить интеграции с банками и вузами. Доработать авторизацию и защиту данных.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6F216C-A989-2F3A-4D24-AD727A27AB91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477500" cy="333375"/>
          </a:xfrm>
          <a:prstGeom prst="rect">
            <a:avLst/>
          </a:prstGeom>
          <a:noFill/>
        </p:spPr>
        <p:txBody>
          <a:bodyPr vert="horz" lIns="0" tIns="0" rIns="0" bIns="0" anchor="t">
            <a:noAutofit/>
          </a:bodyPr>
          <a:lstStyle/>
          <a:p>
            <a:pPr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Следующие этапы зависят от результатов пилота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8732D9E7-C658-4F5A-AAA9-4264B472F06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537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Модель дохода для проверки: Free с импортом, Pro с автоматизацией. Оплата в MVP не подключена.</a:t>
            </a:r>
          </a:p>
        </p:txBody>
      </p:sp>
    </p:spTree>
    <p:extLst>
      <p:ext uri="{BB962C8B-B14F-4D97-AF65-F5344CB8AC3E}">
        <p14:creationId xmlns:p14="http://schemas.microsoft.com/office/powerpoint/2010/main" val="1531819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D4B053-CF93-4E4D-8BFF-AA4815288D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BB3B56-ACC5-250E-53C8-EF40C631D832}"/>
              </a:ext>
            </a:extLst>
          </p:cNvPr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ДЕМО И ИТОГ   ·   13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7349A296-9F81-A56B-1DA9-09604D220E9A}"/>
              </a:ext>
            </a:extLst>
          </p:cNvPr>
          <p:cNvGrpSpPr/>
          <p:nvPr/>
        </p:nvGrpSpPr>
        <p:grpSpPr>
          <a:xfrm>
            <a:off x="11353800" y="381000"/>
            <a:ext cx="231140" cy="195580"/>
            <a:chOff x="11353800" y="3810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49B7AF94-DFC6-FF6D-726E-CD589C976BBE}"/>
                </a:ext>
              </a:extLst>
            </p:cNvPr>
            <p:cNvSpPr/>
            <p:nvPr/>
          </p:nvSpPr>
          <p:spPr>
            <a:xfrm>
              <a:off x="1138936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621976D-FC1E-6A5D-B1B8-3F71DC641130}"/>
                </a:ext>
              </a:extLst>
            </p:cNvPr>
            <p:cNvSpPr/>
            <p:nvPr/>
          </p:nvSpPr>
          <p:spPr>
            <a:xfrm>
              <a:off x="1140714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4EC5174-99A7-642D-C063-65478A67E10D}"/>
                </a:ext>
              </a:extLst>
            </p:cNvPr>
            <p:cNvSpPr/>
            <p:nvPr/>
          </p:nvSpPr>
          <p:spPr>
            <a:xfrm>
              <a:off x="1142492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93FBB3D-4148-00AE-CFAA-20B8873E5779}"/>
                </a:ext>
              </a:extLst>
            </p:cNvPr>
            <p:cNvSpPr/>
            <p:nvPr/>
          </p:nvSpPr>
          <p:spPr>
            <a:xfrm>
              <a:off x="1149604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20D6A5E9-FD67-8D6A-BB61-8C6A8EC6CC76}"/>
                </a:ext>
              </a:extLst>
            </p:cNvPr>
            <p:cNvSpPr/>
            <p:nvPr/>
          </p:nvSpPr>
          <p:spPr>
            <a:xfrm>
              <a:off x="1151382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2E8D802-6D3E-810A-B315-11F93EFF13D9}"/>
                </a:ext>
              </a:extLst>
            </p:cNvPr>
            <p:cNvSpPr/>
            <p:nvPr/>
          </p:nvSpPr>
          <p:spPr>
            <a:xfrm>
              <a:off x="1153160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F8B587BF-E332-2788-E727-46979D46D590}"/>
                </a:ext>
              </a:extLst>
            </p:cNvPr>
            <p:cNvSpPr/>
            <p:nvPr/>
          </p:nvSpPr>
          <p:spPr>
            <a:xfrm>
              <a:off x="11371580" y="39878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66CBE84-041A-CC16-9999-BEE9B8B88838}"/>
                </a:ext>
              </a:extLst>
            </p:cNvPr>
            <p:cNvSpPr/>
            <p:nvPr/>
          </p:nvSpPr>
          <p:spPr>
            <a:xfrm>
              <a:off x="11442700" y="3987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53AFE4E-C62C-F38F-45DA-8B666D3E743A}"/>
                </a:ext>
              </a:extLst>
            </p:cNvPr>
            <p:cNvSpPr/>
            <p:nvPr/>
          </p:nvSpPr>
          <p:spPr>
            <a:xfrm>
              <a:off x="11478260" y="3987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270B84A8-92DE-1811-3312-340ECF1AC5A4}"/>
                </a:ext>
              </a:extLst>
            </p:cNvPr>
            <p:cNvSpPr/>
            <p:nvPr/>
          </p:nvSpPr>
          <p:spPr>
            <a:xfrm>
              <a:off x="11549380" y="39878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04F5979-812C-9F8E-4EDF-5203C2E83669}"/>
                </a:ext>
              </a:extLst>
            </p:cNvPr>
            <p:cNvSpPr/>
            <p:nvPr/>
          </p:nvSpPr>
          <p:spPr>
            <a:xfrm>
              <a:off x="11353800" y="4165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B834610C-7E31-DB69-83D1-F00743E2F4DE}"/>
                </a:ext>
              </a:extLst>
            </p:cNvPr>
            <p:cNvSpPr/>
            <p:nvPr/>
          </p:nvSpPr>
          <p:spPr>
            <a:xfrm>
              <a:off x="11460480" y="41656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8DF7A76C-1F97-AB0F-4C80-687CBCDB2188}"/>
                </a:ext>
              </a:extLst>
            </p:cNvPr>
            <p:cNvSpPr/>
            <p:nvPr/>
          </p:nvSpPr>
          <p:spPr>
            <a:xfrm>
              <a:off x="11567160" y="4165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DE14151-28BA-DB18-F7F8-B0B0FFC469AD}"/>
                </a:ext>
              </a:extLst>
            </p:cNvPr>
            <p:cNvSpPr/>
            <p:nvPr/>
          </p:nvSpPr>
          <p:spPr>
            <a:xfrm>
              <a:off x="11353800" y="4343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0A3E37C-6735-A0AD-0973-F9565E5DC332}"/>
                </a:ext>
              </a:extLst>
            </p:cNvPr>
            <p:cNvSpPr/>
            <p:nvPr/>
          </p:nvSpPr>
          <p:spPr>
            <a:xfrm>
              <a:off x="11567160" y="4343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BD1CED8-919C-3F6D-9221-7A983B88C01D}"/>
                </a:ext>
              </a:extLst>
            </p:cNvPr>
            <p:cNvSpPr/>
            <p:nvPr/>
          </p:nvSpPr>
          <p:spPr>
            <a:xfrm>
              <a:off x="11353800" y="4521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CC2210E-B005-10C5-E21D-1FB2B35EB521}"/>
                </a:ext>
              </a:extLst>
            </p:cNvPr>
            <p:cNvSpPr/>
            <p:nvPr/>
          </p:nvSpPr>
          <p:spPr>
            <a:xfrm>
              <a:off x="11567160" y="4521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3E09B1D6-4292-2364-1C62-FE93E62F5AA0}"/>
                </a:ext>
              </a:extLst>
            </p:cNvPr>
            <p:cNvSpPr/>
            <p:nvPr/>
          </p:nvSpPr>
          <p:spPr>
            <a:xfrm>
              <a:off x="11371580" y="4699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F8D48C0B-CDAD-DC15-0391-3E660F796DD3}"/>
                </a:ext>
              </a:extLst>
            </p:cNvPr>
            <p:cNvSpPr/>
            <p:nvPr/>
          </p:nvSpPr>
          <p:spPr>
            <a:xfrm>
              <a:off x="11549380" y="4699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BC132612-6BE5-7A4C-4E2E-8639464B453D}"/>
                </a:ext>
              </a:extLst>
            </p:cNvPr>
            <p:cNvSpPr/>
            <p:nvPr/>
          </p:nvSpPr>
          <p:spPr>
            <a:xfrm>
              <a:off x="11389360" y="4876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36E3073-2B60-8250-7611-00A894DEA1AC}"/>
                </a:ext>
              </a:extLst>
            </p:cNvPr>
            <p:cNvSpPr/>
            <p:nvPr/>
          </p:nvSpPr>
          <p:spPr>
            <a:xfrm>
              <a:off x="11531600" y="4876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164DDA8-5D7F-6601-6F7A-9E3EF5FBD9FC}"/>
                </a:ext>
              </a:extLst>
            </p:cNvPr>
            <p:cNvSpPr/>
            <p:nvPr/>
          </p:nvSpPr>
          <p:spPr>
            <a:xfrm>
              <a:off x="11407140" y="5054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02274A8F-E227-4A83-A619-7B189F95F2A3}"/>
                </a:ext>
              </a:extLst>
            </p:cNvPr>
            <p:cNvSpPr/>
            <p:nvPr/>
          </p:nvSpPr>
          <p:spPr>
            <a:xfrm>
              <a:off x="11513820" y="5054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45FB34A0-B3B5-E9C4-37FC-161C48682717}"/>
                </a:ext>
              </a:extLst>
            </p:cNvPr>
            <p:cNvSpPr/>
            <p:nvPr/>
          </p:nvSpPr>
          <p:spPr>
            <a:xfrm>
              <a:off x="11424920" y="5232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3BD10591-24F1-0A44-028E-83EF0D90F950}"/>
                </a:ext>
              </a:extLst>
            </p:cNvPr>
            <p:cNvSpPr/>
            <p:nvPr/>
          </p:nvSpPr>
          <p:spPr>
            <a:xfrm>
              <a:off x="11496040" y="5232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FBC376AA-9E27-6EDC-5566-0CDD3C3AC94F}"/>
                </a:ext>
              </a:extLst>
            </p:cNvPr>
            <p:cNvSpPr/>
            <p:nvPr/>
          </p:nvSpPr>
          <p:spPr>
            <a:xfrm>
              <a:off x="11442700" y="5410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603D9F25-F3BE-4B99-8C7D-7777B031212B}"/>
                </a:ext>
              </a:extLst>
            </p:cNvPr>
            <p:cNvSpPr/>
            <p:nvPr/>
          </p:nvSpPr>
          <p:spPr>
            <a:xfrm>
              <a:off x="11478260" y="5410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3AC60D43-0DA9-477E-906D-CA7191F1C980}"/>
                </a:ext>
              </a:extLst>
            </p:cNvPr>
            <p:cNvSpPr/>
            <p:nvPr/>
          </p:nvSpPr>
          <p:spPr>
            <a:xfrm>
              <a:off x="11460480" y="5588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0C9F536-168F-D36E-CF6B-C96E33DCF5C1}"/>
              </a:ext>
            </a:extLst>
          </p:cNvPr>
          <p:cNvSpPr/>
          <p:nvPr/>
        </p:nvSpPr>
        <p:spPr>
          <a:xfrm>
            <a:off x="609600" y="812800"/>
            <a:ext cx="5334000" cy="1905000"/>
          </a:xfrm>
          <a:prstGeom prst="roundRect">
            <a:avLst>
              <a:gd name="adj" fmla="val 10000"/>
            </a:avLst>
          </a:prstGeom>
          <a:solidFill>
            <a:srgbClr val="FFFFFF">
              <a:alpha val="16000"/>
            </a:srgbClr>
          </a:solidFill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841CE1-D276-5F00-2456-5C100EAECAA7}"/>
              </a:ext>
            </a:extLst>
          </p:cNvPr>
          <p:cNvSpPr txBox="1"/>
          <p:nvPr/>
        </p:nvSpPr>
        <p:spPr>
          <a:xfrm>
            <a:off x="914400" y="1066800"/>
            <a:ext cx="472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ДЕМО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9FE3A2-1542-12FA-C953-5AC6A5E531DF}"/>
              </a:ext>
            </a:extLst>
          </p:cNvPr>
          <p:cNvSpPr txBox="1"/>
          <p:nvPr/>
        </p:nvSpPr>
        <p:spPr>
          <a:xfrm>
            <a:off x="914400" y="1320800"/>
            <a:ext cx="47244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Покупка в симуляторе</a:t>
            </a:r>
          </a:p>
          <a:p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пересчёт дневного бюджета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1499B41-41FE-FD78-74D7-BE8E095FE5B3}"/>
              </a:ext>
            </a:extLst>
          </p:cNvPr>
          <p:cNvSpPr/>
          <p:nvPr/>
        </p:nvSpPr>
        <p:spPr>
          <a:xfrm>
            <a:off x="6248400" y="812800"/>
            <a:ext cx="5334000" cy="1905000"/>
          </a:xfrm>
          <a:prstGeom prst="roundRect">
            <a:avLst>
              <a:gd name="adj" fmla="val 10000"/>
            </a:avLst>
          </a:prstGeom>
          <a:solidFill>
            <a:srgbClr val="FFFFFF">
              <a:alpha val="16000"/>
            </a:srgbClr>
          </a:solidFill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FB5319-F724-977F-F91D-8FD7813302DA}"/>
              </a:ext>
            </a:extLst>
          </p:cNvPr>
          <p:cNvSpPr txBox="1"/>
          <p:nvPr/>
        </p:nvSpPr>
        <p:spPr>
          <a:xfrm>
            <a:off x="6553200" y="1066800"/>
            <a:ext cx="472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ГЛАВНАЯ МЫСЛЬ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43675E-4B33-3568-AC61-FCCB01A9E9C9}"/>
              </a:ext>
            </a:extLst>
          </p:cNvPr>
          <p:cNvSpPr txBox="1"/>
          <p:nvPr/>
        </p:nvSpPr>
        <p:spPr>
          <a:xfrm>
            <a:off x="6553200" y="1320800"/>
            <a:ext cx="47244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Студент понимает, сколько может потратить сегодня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2D5842-5EDC-F00F-6188-651F6D1A8930}"/>
              </a:ext>
            </a:extLst>
          </p:cNvPr>
          <p:cNvSpPr txBox="1"/>
          <p:nvPr/>
        </p:nvSpPr>
        <p:spPr>
          <a:xfrm>
            <a:off x="609600" y="3327400"/>
            <a:ext cx="109728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4000" dirty="0">
                <a:solidFill>
                  <a:srgbClr val="FFFFFF"/>
                </a:solidFill>
                <a:latin typeface="Arial Black" panose="020B0A04020102020204" pitchFamily="34" charset="0"/>
              </a:rPr>
              <a:t>Спасибо за внимание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F9A288-DB04-463F-F2D7-B15A66481E01}"/>
              </a:ext>
            </a:extLst>
          </p:cNvPr>
          <p:cNvSpPr txBox="1"/>
          <p:nvPr/>
        </p:nvSpPr>
        <p:spPr>
          <a:xfrm>
            <a:off x="609600" y="4089400"/>
            <a:ext cx="1097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>
                <a:solidFill>
                  <a:srgbClr val="FFFFFF"/>
                </a:solidFill>
                <a:latin typeface="Arial" panose="020B0604020202020204" pitchFamily="34" charset="0"/>
              </a:rPr>
              <a:t>Готовы показать продукт и ответить на вопросы.</a:t>
            </a: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004FAB5-B452-217D-65A2-5CDED39F0974}"/>
              </a:ext>
            </a:extLst>
          </p:cNvPr>
          <p:cNvCxnSpPr/>
          <p:nvPr/>
        </p:nvCxnSpPr>
        <p:spPr>
          <a:xfrm>
            <a:off x="609600" y="5334000"/>
            <a:ext cx="10972800" cy="0"/>
          </a:xfrm>
          <a:prstGeom prst="line">
            <a:avLst/>
          </a:prstGeom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022B931-FFB3-186E-74FF-087D071A117C}"/>
              </a:ext>
            </a:extLst>
          </p:cNvPr>
          <p:cNvSpPr txBox="1"/>
          <p:nvPr/>
        </p:nvSpPr>
        <p:spPr>
          <a:xfrm>
            <a:off x="60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 spc="150">
                <a:solidFill>
                  <a:srgbClr val="FFFFFF"/>
                </a:solidFill>
                <a:latin typeface="Arial" panose="020B0604020202020204" pitchFamily="34" charset="0"/>
              </a:rPr>
              <a:t>GITHUB</a:t>
            </a:r>
            <a:endParaRPr lang="ru-RU" sz="900" b="1" spc="15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E33332-9C32-FF39-8B48-B5284EDC9AAE}"/>
              </a:ext>
            </a:extLst>
          </p:cNvPr>
          <p:cNvSpPr txBox="1"/>
          <p:nvPr/>
        </p:nvSpPr>
        <p:spPr>
          <a:xfrm>
            <a:off x="609600" y="579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[ссылка на репозиторий]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3C234E-D325-A7F5-C621-48006AF317B4}"/>
              </a:ext>
            </a:extLst>
          </p:cNvPr>
          <p:cNvSpPr txBox="1"/>
          <p:nvPr/>
        </p:nvSpPr>
        <p:spPr>
          <a:xfrm>
            <a:off x="441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КОНТАКТ КАПИТАНА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660A35-FF16-5CE1-0A9A-8888FE31EEB4}"/>
              </a:ext>
            </a:extLst>
          </p:cNvPr>
          <p:cNvSpPr txBox="1"/>
          <p:nvPr/>
        </p:nvSpPr>
        <p:spPr>
          <a:xfrm>
            <a:off x="4419600" y="579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</a:rPr>
              <a:t>@Druidsova</a:t>
            </a:r>
            <a:endParaRPr lang="ru-RU" sz="15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A8F26D-5073-2CB1-A055-7C11DCEBA763}"/>
              </a:ext>
            </a:extLst>
          </p:cNvPr>
          <p:cNvSpPr txBox="1"/>
          <p:nvPr/>
        </p:nvSpPr>
        <p:spPr>
          <a:xfrm>
            <a:off x="822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КОМАНДА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DA0842-E91F-4FAA-A543-BAA6D618D86B}"/>
              </a:ext>
            </a:extLst>
          </p:cNvPr>
          <p:cNvSpPr txBox="1"/>
          <p:nvPr/>
        </p:nvSpPr>
        <p:spPr>
          <a:xfrm>
            <a:off x="8229600" y="579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Рыбы </a:t>
            </a:r>
            <a:r>
              <a:rPr lang="ru-RU" sz="1500" b="1" dirty="0" err="1">
                <a:solidFill>
                  <a:srgbClr val="FFFFFF"/>
                </a:solidFill>
                <a:latin typeface="Arial" panose="020B0604020202020204" pitchFamily="34" charset="0"/>
              </a:rPr>
              <a:t>дипсика</a:t>
            </a:r>
            <a:endParaRPr lang="ru-RU" sz="15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A2864A-8291-0FCD-87F7-6AD29F689E90}"/>
              </a:ext>
            </a:extLst>
          </p:cNvPr>
          <p:cNvSpPr txBox="1"/>
          <p:nvPr/>
        </p:nvSpPr>
        <p:spPr>
          <a:xfrm>
            <a:off x="609600" y="63500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>
                <a:solidFill>
                  <a:srgbClr val="FFFFFF"/>
                </a:solidFill>
                <a:latin typeface="Arial" panose="020B0604020202020204" pitchFamily="34" charset="0"/>
              </a:rPr>
              <a:t>Стартап-хакатон «Пятый элемент» 2026 · 26–27 сентября · СФУ</a:t>
            </a:r>
          </a:p>
        </p:txBody>
      </p: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21040246-9F45-5F25-1BED-63715E06D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40" y="73047"/>
            <a:ext cx="6595920" cy="68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360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1360</Words>
  <Application>Microsoft Office PowerPoint</Application>
  <DocSecurity>0</DocSecurity>
  <PresentationFormat>Широкоэкранный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Arial Black</vt:lpstr>
      <vt:lpstr>Plus Jakarta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Максим Чепиков</cp:lastModifiedBy>
  <cp:revision>1</cp:revision>
  <dcterms:created xsi:type="dcterms:W3CDTF">2026-09-27T03:13:35Z</dcterms:created>
  <dcterms:modified xsi:type="dcterms:W3CDTF">2026-09-27T03:41:35Z</dcterms:modified>
</cp:coreProperties>
</file>